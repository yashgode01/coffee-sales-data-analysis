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58" r:id="rId4"/>
    <p:sldId id="257"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67"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a_warm_professional_cinematic_coffee_themed_stil.png"/>
          <p:cNvPicPr>
            <a:picLocks noChangeAspect="1"/>
          </p:cNvPicPr>
          <p:nvPr/>
        </p:nvPicPr>
        <p:blipFill>
          <a:blip r:embed="rId2"/>
          <a:stretch>
            <a:fillRect/>
          </a:stretch>
        </p:blipFill>
        <p:spPr>
          <a:xfrm>
            <a:off x="6446520" y="0"/>
            <a:ext cx="12185522" cy="6858000"/>
          </a:xfrm>
          <a:prstGeom prst="rect">
            <a:avLst/>
          </a:prstGeom>
        </p:spPr>
      </p:pic>
      <p:sp>
        <p:nvSpPr>
          <p:cNvPr id="4" name="Rectangle 3"/>
          <p:cNvSpPr/>
          <p:nvPr/>
        </p:nvSpPr>
        <p:spPr>
          <a:xfrm>
            <a:off x="0" y="0"/>
            <a:ext cx="6949440" cy="6858000"/>
          </a:xfrm>
          <a:prstGeom prst="rect">
            <a:avLst/>
          </a:prstGeom>
          <a:solidFill>
            <a:srgbClr val="302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417320"/>
            <a:ext cx="5577840" cy="1234440"/>
          </a:xfrm>
          <a:prstGeom prst="rect">
            <a:avLst/>
          </a:prstGeom>
          <a:noFill/>
        </p:spPr>
        <p:txBody>
          <a:bodyPr wrap="square">
            <a:spAutoFit/>
          </a:bodyPr>
          <a:lstStyle/>
          <a:p>
            <a:pPr algn="l"/>
            <a:r>
              <a:rPr sz="3400" b="1">
                <a:solidFill>
                  <a:srgbClr val="FFFFFF"/>
                </a:solidFill>
                <a:latin typeface="Aptos"/>
              </a:rPr>
              <a:t>COFFEE SALES
DATA ANALYSIS</a:t>
            </a:r>
          </a:p>
        </p:txBody>
      </p:sp>
      <p:sp>
        <p:nvSpPr>
          <p:cNvPr id="6" name="TextBox 5"/>
          <p:cNvSpPr txBox="1"/>
          <p:nvPr/>
        </p:nvSpPr>
        <p:spPr>
          <a:xfrm>
            <a:off x="713232" y="2880360"/>
            <a:ext cx="5394960" cy="365760"/>
          </a:xfrm>
          <a:prstGeom prst="rect">
            <a:avLst/>
          </a:prstGeom>
          <a:noFill/>
        </p:spPr>
        <p:txBody>
          <a:bodyPr wrap="square">
            <a:spAutoFit/>
          </a:bodyPr>
          <a:lstStyle/>
          <a:p>
            <a:pPr algn="l"/>
            <a:r>
              <a:rPr sz="1600" b="0">
                <a:solidFill>
                  <a:srgbClr val="EEE1CF"/>
                </a:solidFill>
                <a:latin typeface="Aptos"/>
              </a:rPr>
              <a:t>Python • Pandas • NumPy • Matplotlib</a:t>
            </a:r>
          </a:p>
        </p:txBody>
      </p:sp>
      <p:sp>
        <p:nvSpPr>
          <p:cNvPr id="7" name="TextBox 6"/>
          <p:cNvSpPr txBox="1"/>
          <p:nvPr/>
        </p:nvSpPr>
        <p:spPr>
          <a:xfrm>
            <a:off x="713232" y="3368570"/>
            <a:ext cx="5394960" cy="400110"/>
          </a:xfrm>
          <a:prstGeom prst="rect">
            <a:avLst/>
          </a:prstGeom>
          <a:noFill/>
        </p:spPr>
        <p:txBody>
          <a:bodyPr wrap="square">
            <a:spAutoFit/>
          </a:bodyPr>
          <a:lstStyle/>
          <a:p>
            <a:pPr algn="l"/>
            <a:r>
              <a:rPr lang="en-US" sz="2000" b="1" dirty="0">
                <a:solidFill>
                  <a:srgbClr val="C99753"/>
                </a:solidFill>
                <a:latin typeface="Aptos"/>
              </a:rPr>
              <a:t>Created by : Yash Gode</a:t>
            </a:r>
            <a:endParaRPr sz="2000" b="1" dirty="0">
              <a:solidFill>
                <a:srgbClr val="C99753"/>
              </a:solidFill>
              <a:latin typeface="Aptos"/>
            </a:endParaRPr>
          </a:p>
        </p:txBody>
      </p:sp>
      <p:sp>
        <p:nvSpPr>
          <p:cNvPr id="11" name="TextBox 10"/>
          <p:cNvSpPr txBox="1"/>
          <p:nvPr/>
        </p:nvSpPr>
        <p:spPr>
          <a:xfrm>
            <a:off x="713232" y="3940666"/>
            <a:ext cx="5394960" cy="320040"/>
          </a:xfrm>
          <a:prstGeom prst="rect">
            <a:avLst/>
          </a:prstGeom>
          <a:noFill/>
        </p:spPr>
        <p:txBody>
          <a:bodyPr wrap="square">
            <a:spAutoFit/>
          </a:bodyPr>
          <a:lstStyle/>
          <a:p>
            <a:pPr algn="l"/>
            <a:r>
              <a:rPr sz="1100" b="0" dirty="0">
                <a:solidFill>
                  <a:srgbClr val="CDC1B5"/>
                </a:solidFill>
                <a:latin typeface="Aptos"/>
              </a:rPr>
              <a:t>Analyze  •  Visualize  •  Interpret  •  Recommend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lang="en-US" sz="2600" b="1" dirty="0">
                <a:solidFill>
                  <a:srgbClr val="302018"/>
                </a:solidFill>
                <a:latin typeface="Aptos"/>
              </a:rPr>
              <a:t>2</a:t>
            </a:r>
            <a:r>
              <a:rPr sz="2600" b="1" dirty="0">
                <a:solidFill>
                  <a:srgbClr val="302018"/>
                </a:solidFill>
                <a:latin typeface="Aptos"/>
              </a:rPr>
              <a:t>. Project Description &amp; Objectives</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Why the analysis was performed</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30452"/>
            <a:ext cx="2743200" cy="274320"/>
          </a:xfrm>
          <a:prstGeom prst="rect">
            <a:avLst/>
          </a:prstGeom>
          <a:noFill/>
        </p:spPr>
        <p:txBody>
          <a:bodyPr wrap="square">
            <a:spAutoFit/>
          </a:bodyPr>
          <a:lstStyle/>
          <a:p>
            <a:pPr algn="l"/>
            <a:r>
              <a:rPr sz="2000" b="1" dirty="0">
                <a:solidFill>
                  <a:srgbClr val="684633"/>
                </a:solidFill>
                <a:latin typeface="Aptos"/>
              </a:rPr>
              <a:t>Project Description</a:t>
            </a:r>
          </a:p>
        </p:txBody>
      </p:sp>
      <p:sp>
        <p:nvSpPr>
          <p:cNvPr id="7" name="TextBox 6"/>
          <p:cNvSpPr txBox="1"/>
          <p:nvPr/>
        </p:nvSpPr>
        <p:spPr>
          <a:xfrm>
            <a:off x="777240" y="2241932"/>
            <a:ext cx="5120640" cy="3777957"/>
          </a:xfrm>
          <a:prstGeom prst="rect">
            <a:avLst/>
          </a:prstGeom>
          <a:noFill/>
        </p:spPr>
        <p:txBody>
          <a:bodyPr wrap="square">
            <a:spAutoFit/>
          </a:bodyPr>
          <a:lstStyle/>
          <a:p>
            <a:r>
              <a:rPr lang="en-IN" sz="1600" dirty="0"/>
              <a:t>This project focuses on analysing coffee sales transaction data using </a:t>
            </a:r>
            <a:r>
              <a:rPr lang="en-IN" sz="1600" b="1" dirty="0"/>
              <a:t>Python, Pandas, NumPy, and Matplotlib</a:t>
            </a:r>
            <a:r>
              <a:rPr lang="en-IN" sz="1600" dirty="0"/>
              <a:t> to uncover sales patterns, product performance, revenue trends, and customer purchasing behaviour. The analysis involved data inspection, cleaning, validation, KPI creation, exploratory data analysis (EDA) and visualization.</a:t>
            </a:r>
          </a:p>
          <a:p>
            <a:endParaRPr lang="en-IN" sz="1600" dirty="0"/>
          </a:p>
          <a:p>
            <a:r>
              <a:rPr lang="en-IN" sz="1600" dirty="0"/>
              <a:t>The dataset contains </a:t>
            </a:r>
            <a:r>
              <a:rPr lang="en-IN" sz="1600" b="1" dirty="0"/>
              <a:t>3,547 sales transactions across 8 coffee products</a:t>
            </a:r>
            <a:r>
              <a:rPr lang="en-IN" sz="1600" dirty="0"/>
              <a:t>, with information such as transaction amount, coffee type, time of day, weekday, month, date, and hour. The project transforms raw transaction data into meaningful business insights that can support sales planning, product strategy, staffing, and promotional decisions.</a:t>
            </a:r>
          </a:p>
          <a:p>
            <a:pPr algn="l"/>
            <a:endParaRPr sz="1550" b="0" dirty="0">
              <a:solidFill>
                <a:srgbClr val="302018"/>
              </a:solidFill>
              <a:latin typeface="Aptos"/>
            </a:endParaRPr>
          </a:p>
        </p:txBody>
      </p:sp>
      <p:sp>
        <p:nvSpPr>
          <p:cNvPr id="8" name="TextBox 7"/>
          <p:cNvSpPr txBox="1"/>
          <p:nvPr/>
        </p:nvSpPr>
        <p:spPr>
          <a:xfrm>
            <a:off x="6713067" y="1741932"/>
            <a:ext cx="1828800" cy="274320"/>
          </a:xfrm>
          <a:prstGeom prst="rect">
            <a:avLst/>
          </a:prstGeom>
          <a:noFill/>
        </p:spPr>
        <p:txBody>
          <a:bodyPr wrap="square">
            <a:spAutoFit/>
          </a:bodyPr>
          <a:lstStyle/>
          <a:p>
            <a:pPr algn="l"/>
            <a:r>
              <a:rPr sz="2000" b="1" dirty="0">
                <a:solidFill>
                  <a:srgbClr val="684633"/>
                </a:solidFill>
                <a:latin typeface="Aptos"/>
              </a:rPr>
              <a:t>Objectives</a:t>
            </a:r>
          </a:p>
        </p:txBody>
      </p:sp>
      <p:sp>
        <p:nvSpPr>
          <p:cNvPr id="9" name="TextBox 8"/>
          <p:cNvSpPr txBox="1"/>
          <p:nvPr/>
        </p:nvSpPr>
        <p:spPr>
          <a:xfrm>
            <a:off x="6713067" y="2153412"/>
            <a:ext cx="4663440" cy="3108960"/>
          </a:xfrm>
          <a:prstGeom prst="rect">
            <a:avLst/>
          </a:prstGeom>
          <a:noFill/>
        </p:spPr>
        <p:txBody>
          <a:bodyPr wrap="square">
            <a:spAutoFit/>
          </a:bodyPr>
          <a:lstStyle/>
          <a:p>
            <a:pPr>
              <a:spcAft>
                <a:spcPts val="600"/>
              </a:spcAft>
              <a:defRPr sz="1500">
                <a:solidFill>
                  <a:srgbClr val="302018"/>
                </a:solidFill>
                <a:latin typeface="Aptos"/>
              </a:defRPr>
            </a:pPr>
            <a:r>
              <a:t>• Measure overall sales performance.</a:t>
            </a:r>
          </a:p>
          <a:p>
            <a:pPr>
              <a:spcAft>
                <a:spcPts val="600"/>
              </a:spcAft>
              <a:defRPr sz="1500">
                <a:solidFill>
                  <a:srgbClr val="302018"/>
                </a:solidFill>
                <a:latin typeface="Aptos"/>
              </a:defRPr>
            </a:pPr>
            <a:r>
              <a:t>• Evaluate product revenue contribution.</a:t>
            </a:r>
          </a:p>
          <a:p>
            <a:pPr>
              <a:spcAft>
                <a:spcPts val="600"/>
              </a:spcAft>
              <a:defRPr sz="1500">
                <a:solidFill>
                  <a:srgbClr val="302018"/>
                </a:solidFill>
                <a:latin typeface="Aptos"/>
              </a:defRPr>
            </a:pPr>
            <a:r>
              <a:t>• Identify monthly and hourly sales patterns.</a:t>
            </a:r>
          </a:p>
          <a:p>
            <a:pPr>
              <a:spcAft>
                <a:spcPts val="600"/>
              </a:spcAft>
              <a:defRPr sz="1500">
                <a:solidFill>
                  <a:srgbClr val="302018"/>
                </a:solidFill>
                <a:latin typeface="Aptos"/>
              </a:defRPr>
            </a:pPr>
            <a:r>
              <a:t>• Compare weekday revenue.</a:t>
            </a:r>
          </a:p>
          <a:p>
            <a:pPr>
              <a:spcAft>
                <a:spcPts val="600"/>
              </a:spcAft>
              <a:defRPr sz="1500">
                <a:solidFill>
                  <a:srgbClr val="302018"/>
                </a:solidFill>
                <a:latin typeface="Aptos"/>
              </a:defRPr>
            </a:pPr>
            <a:r>
              <a:t>• Create business-facing visualizations.</a:t>
            </a:r>
          </a:p>
          <a:p>
            <a:pPr>
              <a:spcAft>
                <a:spcPts val="600"/>
              </a:spcAft>
              <a:defRPr sz="1500">
                <a:solidFill>
                  <a:srgbClr val="302018"/>
                </a:solidFill>
                <a:latin typeface="Aptos"/>
              </a:defRPr>
            </a:pPr>
            <a:r>
              <a:t>• Generate suggestions from observed patterns.</a:t>
            </a:r>
          </a:p>
        </p:txBody>
      </p:sp>
      <p:sp>
        <p:nvSpPr>
          <p:cNvPr id="22" name="TextBox 21"/>
          <p:cNvSpPr txBox="1"/>
          <p:nvPr/>
        </p:nvSpPr>
        <p:spPr>
          <a:xfrm>
            <a:off x="612648" y="6492240"/>
            <a:ext cx="4572000" cy="182880"/>
          </a:xfrm>
          <a:prstGeom prst="rect">
            <a:avLst/>
          </a:prstGeom>
          <a:noFill/>
        </p:spPr>
        <p:txBody>
          <a:bodyPr wrap="square">
            <a:spAutoFit/>
          </a:bodyPr>
          <a:lstStyle/>
          <a:p>
            <a:pPr algn="l"/>
            <a:r>
              <a:rPr sz="800" b="1">
                <a:solidFill>
                  <a:srgbClr val="6C625B"/>
                </a:solidFill>
                <a:latin typeface="Aptos"/>
              </a:rPr>
              <a:t>COFFEE SALES • PYTHON DATA ANALYTICS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p:cNvSpPr>
          <p:nvPr/>
        </p:nvSpPr>
        <p:spPr>
          <a:xfrm>
            <a:off x="-15089"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lang="en-US" sz="2600" b="1" dirty="0">
                <a:solidFill>
                  <a:srgbClr val="302018"/>
                </a:solidFill>
                <a:latin typeface="Aptos"/>
              </a:rPr>
              <a:t>3</a:t>
            </a:r>
            <a:r>
              <a:rPr sz="2600" b="1" dirty="0">
                <a:solidFill>
                  <a:srgbClr val="302018"/>
                </a:solidFill>
                <a:latin typeface="Aptos"/>
              </a:rPr>
              <a:t>. About the Dataset</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Structure, fields and observed coverage</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721798"/>
            <a:ext cx="2011680" cy="105156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849814"/>
            <a:ext cx="1682496" cy="253916"/>
          </a:xfrm>
          <a:prstGeom prst="rect">
            <a:avLst/>
          </a:prstGeom>
          <a:noFill/>
        </p:spPr>
        <p:txBody>
          <a:bodyPr wrap="square">
            <a:spAutoFit/>
          </a:bodyPr>
          <a:lstStyle/>
          <a:p>
            <a:pPr algn="ctr"/>
            <a:r>
              <a:rPr sz="1050" b="1" dirty="0">
                <a:solidFill>
                  <a:srgbClr val="6C625B"/>
                </a:solidFill>
                <a:latin typeface="Aptos"/>
              </a:rPr>
              <a:t>ROWS</a:t>
            </a:r>
            <a:endParaRPr sz="1000" b="1" dirty="0">
              <a:solidFill>
                <a:srgbClr val="6C625B"/>
              </a:solidFill>
              <a:latin typeface="Aptos"/>
            </a:endParaRPr>
          </a:p>
        </p:txBody>
      </p:sp>
      <p:sp>
        <p:nvSpPr>
          <p:cNvPr id="8" name="TextBox 7"/>
          <p:cNvSpPr txBox="1"/>
          <p:nvPr/>
        </p:nvSpPr>
        <p:spPr>
          <a:xfrm>
            <a:off x="804671" y="2133278"/>
            <a:ext cx="1682496" cy="446276"/>
          </a:xfrm>
          <a:prstGeom prst="rect">
            <a:avLst/>
          </a:prstGeom>
          <a:noFill/>
        </p:spPr>
        <p:txBody>
          <a:bodyPr wrap="square">
            <a:spAutoFit/>
          </a:bodyPr>
          <a:lstStyle/>
          <a:p>
            <a:pPr algn="ctr"/>
            <a:r>
              <a:rPr sz="2300" b="1" dirty="0">
                <a:solidFill>
                  <a:srgbClr val="302018"/>
                </a:solidFill>
                <a:latin typeface="Aptos"/>
              </a:rPr>
              <a:t>3,547</a:t>
            </a:r>
          </a:p>
        </p:txBody>
      </p:sp>
      <p:sp>
        <p:nvSpPr>
          <p:cNvPr id="9" name="Rounded Rectangle 8"/>
          <p:cNvSpPr/>
          <p:nvPr/>
        </p:nvSpPr>
        <p:spPr>
          <a:xfrm>
            <a:off x="2926080" y="1721798"/>
            <a:ext cx="2011680" cy="105156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90672" y="1849814"/>
            <a:ext cx="1682496" cy="253916"/>
          </a:xfrm>
          <a:prstGeom prst="rect">
            <a:avLst/>
          </a:prstGeom>
          <a:noFill/>
        </p:spPr>
        <p:txBody>
          <a:bodyPr wrap="square">
            <a:spAutoFit/>
          </a:bodyPr>
          <a:lstStyle/>
          <a:p>
            <a:pPr algn="ctr"/>
            <a:r>
              <a:rPr sz="1050" b="1" dirty="0">
                <a:solidFill>
                  <a:srgbClr val="6C625B"/>
                </a:solidFill>
                <a:latin typeface="Aptos"/>
              </a:rPr>
              <a:t>COLUMNS</a:t>
            </a:r>
            <a:endParaRPr sz="1000" b="1" dirty="0">
              <a:solidFill>
                <a:srgbClr val="6C625B"/>
              </a:solidFill>
              <a:latin typeface="Aptos"/>
            </a:endParaRPr>
          </a:p>
        </p:txBody>
      </p:sp>
      <p:sp>
        <p:nvSpPr>
          <p:cNvPr id="11" name="TextBox 10"/>
          <p:cNvSpPr txBox="1"/>
          <p:nvPr/>
        </p:nvSpPr>
        <p:spPr>
          <a:xfrm>
            <a:off x="3090672" y="2133278"/>
            <a:ext cx="1682496" cy="446276"/>
          </a:xfrm>
          <a:prstGeom prst="rect">
            <a:avLst/>
          </a:prstGeom>
          <a:noFill/>
        </p:spPr>
        <p:txBody>
          <a:bodyPr wrap="square">
            <a:spAutoFit/>
          </a:bodyPr>
          <a:lstStyle/>
          <a:p>
            <a:pPr algn="ctr"/>
            <a:r>
              <a:rPr sz="2300" b="1" dirty="0">
                <a:solidFill>
                  <a:srgbClr val="302018"/>
                </a:solidFill>
                <a:latin typeface="Aptos"/>
              </a:rPr>
              <a:t>11</a:t>
            </a:r>
          </a:p>
        </p:txBody>
      </p:sp>
      <p:sp>
        <p:nvSpPr>
          <p:cNvPr id="53" name="Rounded Rectangle 8">
            <a:extLst>
              <a:ext uri="{FF2B5EF4-FFF2-40B4-BE49-F238E27FC236}">
                <a16:creationId xmlns:a16="http://schemas.microsoft.com/office/drawing/2014/main" id="{16806FB5-0728-AEE9-8801-E0876E709B4B}"/>
              </a:ext>
            </a:extLst>
          </p:cNvPr>
          <p:cNvSpPr/>
          <p:nvPr/>
        </p:nvSpPr>
        <p:spPr>
          <a:xfrm>
            <a:off x="5212080" y="1721798"/>
            <a:ext cx="2011680" cy="105156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A89433E9-D16B-6B49-CE99-32D6ED0B3FB9}"/>
              </a:ext>
            </a:extLst>
          </p:cNvPr>
          <p:cNvSpPr txBox="1"/>
          <p:nvPr/>
        </p:nvSpPr>
        <p:spPr>
          <a:xfrm>
            <a:off x="5376672" y="1849814"/>
            <a:ext cx="1682496" cy="276999"/>
          </a:xfrm>
          <a:prstGeom prst="rect">
            <a:avLst/>
          </a:prstGeom>
          <a:noFill/>
        </p:spPr>
        <p:txBody>
          <a:bodyPr wrap="square">
            <a:spAutoFit/>
          </a:bodyPr>
          <a:lstStyle/>
          <a:p>
            <a:pPr algn="ctr"/>
            <a:r>
              <a:rPr lang="en-US" sz="1200" b="1" dirty="0">
                <a:solidFill>
                  <a:srgbClr val="6C625B"/>
                </a:solidFill>
                <a:latin typeface="Aptos"/>
              </a:rPr>
              <a:t>File Type</a:t>
            </a:r>
            <a:endParaRPr sz="1100" b="1" dirty="0">
              <a:solidFill>
                <a:srgbClr val="6C625B"/>
              </a:solidFill>
              <a:latin typeface="Aptos"/>
            </a:endParaRPr>
          </a:p>
        </p:txBody>
      </p:sp>
      <p:sp>
        <p:nvSpPr>
          <p:cNvPr id="59" name="TextBox 58">
            <a:extLst>
              <a:ext uri="{FF2B5EF4-FFF2-40B4-BE49-F238E27FC236}">
                <a16:creationId xmlns:a16="http://schemas.microsoft.com/office/drawing/2014/main" id="{5AE0E487-AB3D-ABD9-A191-090B7A7E5932}"/>
              </a:ext>
            </a:extLst>
          </p:cNvPr>
          <p:cNvSpPr txBox="1"/>
          <p:nvPr/>
        </p:nvSpPr>
        <p:spPr>
          <a:xfrm>
            <a:off x="5254752" y="2133278"/>
            <a:ext cx="1682496" cy="446276"/>
          </a:xfrm>
          <a:prstGeom prst="rect">
            <a:avLst/>
          </a:prstGeom>
          <a:noFill/>
        </p:spPr>
        <p:txBody>
          <a:bodyPr wrap="square">
            <a:spAutoFit/>
          </a:bodyPr>
          <a:lstStyle/>
          <a:p>
            <a:pPr algn="ctr"/>
            <a:r>
              <a:rPr lang="en-US" sz="2300" b="1" dirty="0">
                <a:solidFill>
                  <a:srgbClr val="302018"/>
                </a:solidFill>
                <a:latin typeface="Aptos"/>
              </a:rPr>
              <a:t>.CSV</a:t>
            </a:r>
            <a:endParaRPr sz="2300" b="1" dirty="0">
              <a:solidFill>
                <a:srgbClr val="302018"/>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lang="en-US" sz="2600" b="1" dirty="0">
                <a:solidFill>
                  <a:srgbClr val="302018"/>
                </a:solidFill>
                <a:latin typeface="Aptos"/>
              </a:rPr>
              <a:t>4. KPI Cards</a:t>
            </a:r>
            <a:endParaRPr sz="2600" b="1" dirty="0">
              <a:solidFill>
                <a:srgbClr val="302018"/>
              </a:solidFill>
              <a:latin typeface="Aptos"/>
            </a:endParaRPr>
          </a:p>
        </p:txBody>
      </p:sp>
      <p:sp>
        <p:nvSpPr>
          <p:cNvPr id="4" name="TextBox 3"/>
          <p:cNvSpPr txBox="1"/>
          <p:nvPr/>
        </p:nvSpPr>
        <p:spPr>
          <a:xfrm>
            <a:off x="612648" y="786384"/>
            <a:ext cx="10789920" cy="274320"/>
          </a:xfrm>
          <a:prstGeom prst="rect">
            <a:avLst/>
          </a:prstGeom>
          <a:noFill/>
        </p:spPr>
        <p:txBody>
          <a:bodyPr wrap="square">
            <a:spAutoFit/>
          </a:bodyPr>
          <a:lstStyle/>
          <a:p>
            <a:pPr algn="l"/>
            <a:r>
              <a:rPr lang="en-US" sz="1150" dirty="0">
                <a:solidFill>
                  <a:srgbClr val="6C625B"/>
                </a:solidFill>
                <a:latin typeface="Aptos"/>
              </a:rPr>
              <a:t>Above is the KPI cards figures</a:t>
            </a:r>
            <a:endParaRPr sz="1150" b="0" dirty="0">
              <a:solidFill>
                <a:srgbClr val="6C625B"/>
              </a:solidFill>
              <a:latin typeface="Aptos"/>
            </a:endParaRP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371600"/>
            <a:ext cx="2514600" cy="114300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1499616"/>
            <a:ext cx="2185416" cy="230832"/>
          </a:xfrm>
          <a:prstGeom prst="rect">
            <a:avLst/>
          </a:prstGeom>
          <a:noFill/>
        </p:spPr>
        <p:txBody>
          <a:bodyPr wrap="square">
            <a:spAutoFit/>
          </a:bodyPr>
          <a:lstStyle/>
          <a:p>
            <a:pPr algn="l"/>
            <a:r>
              <a:rPr sz="900" b="1" dirty="0">
                <a:solidFill>
                  <a:srgbClr val="6C625B"/>
                </a:solidFill>
                <a:latin typeface="Aptos"/>
              </a:rPr>
              <a:t>TOTAL REVENUE</a:t>
            </a:r>
          </a:p>
        </p:txBody>
      </p:sp>
      <p:sp>
        <p:nvSpPr>
          <p:cNvPr id="8" name="TextBox 7"/>
          <p:cNvSpPr txBox="1"/>
          <p:nvPr/>
        </p:nvSpPr>
        <p:spPr>
          <a:xfrm>
            <a:off x="850392" y="1783080"/>
            <a:ext cx="2185416" cy="411480"/>
          </a:xfrm>
          <a:prstGeom prst="rect">
            <a:avLst/>
          </a:prstGeom>
          <a:noFill/>
        </p:spPr>
        <p:txBody>
          <a:bodyPr wrap="square">
            <a:spAutoFit/>
          </a:bodyPr>
          <a:lstStyle/>
          <a:p>
            <a:pPr algn="l"/>
            <a:r>
              <a:rPr sz="2300" b="1">
                <a:solidFill>
                  <a:srgbClr val="302018"/>
                </a:solidFill>
                <a:latin typeface="Aptos"/>
              </a:rPr>
              <a:t>₹112,245.58</a:t>
            </a:r>
          </a:p>
        </p:txBody>
      </p:sp>
      <p:sp>
        <p:nvSpPr>
          <p:cNvPr id="10" name="Rounded Rectangle 9"/>
          <p:cNvSpPr/>
          <p:nvPr/>
        </p:nvSpPr>
        <p:spPr>
          <a:xfrm>
            <a:off x="3474720" y="1371600"/>
            <a:ext cx="2514600" cy="114300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39312" y="1499616"/>
            <a:ext cx="2185416" cy="230832"/>
          </a:xfrm>
          <a:prstGeom prst="rect">
            <a:avLst/>
          </a:prstGeom>
          <a:noFill/>
        </p:spPr>
        <p:txBody>
          <a:bodyPr wrap="square">
            <a:spAutoFit/>
          </a:bodyPr>
          <a:lstStyle/>
          <a:p>
            <a:pPr algn="l"/>
            <a:r>
              <a:rPr sz="900" b="1" dirty="0">
                <a:solidFill>
                  <a:srgbClr val="6C625B"/>
                </a:solidFill>
                <a:latin typeface="Aptos"/>
              </a:rPr>
              <a:t>TRANSACTIONS</a:t>
            </a:r>
          </a:p>
        </p:txBody>
      </p:sp>
      <p:sp>
        <p:nvSpPr>
          <p:cNvPr id="12" name="TextBox 11"/>
          <p:cNvSpPr txBox="1"/>
          <p:nvPr/>
        </p:nvSpPr>
        <p:spPr>
          <a:xfrm>
            <a:off x="3639312" y="1783080"/>
            <a:ext cx="2185416" cy="411480"/>
          </a:xfrm>
          <a:prstGeom prst="rect">
            <a:avLst/>
          </a:prstGeom>
          <a:noFill/>
        </p:spPr>
        <p:txBody>
          <a:bodyPr wrap="square">
            <a:spAutoFit/>
          </a:bodyPr>
          <a:lstStyle/>
          <a:p>
            <a:pPr algn="l"/>
            <a:r>
              <a:rPr sz="2300" b="1">
                <a:solidFill>
                  <a:srgbClr val="302018"/>
                </a:solidFill>
                <a:latin typeface="Aptos"/>
              </a:rPr>
              <a:t>3,547</a:t>
            </a:r>
          </a:p>
        </p:txBody>
      </p:sp>
      <p:sp>
        <p:nvSpPr>
          <p:cNvPr id="14" name="Rounded Rectangle 13"/>
          <p:cNvSpPr/>
          <p:nvPr/>
        </p:nvSpPr>
        <p:spPr>
          <a:xfrm>
            <a:off x="6263640" y="1371600"/>
            <a:ext cx="2514600" cy="114300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8231" y="1499616"/>
            <a:ext cx="2185416" cy="230832"/>
          </a:xfrm>
          <a:prstGeom prst="rect">
            <a:avLst/>
          </a:prstGeom>
          <a:noFill/>
        </p:spPr>
        <p:txBody>
          <a:bodyPr wrap="square">
            <a:spAutoFit/>
          </a:bodyPr>
          <a:lstStyle/>
          <a:p>
            <a:pPr algn="l"/>
            <a:r>
              <a:rPr sz="900" b="1" dirty="0">
                <a:solidFill>
                  <a:srgbClr val="6C625B"/>
                </a:solidFill>
                <a:latin typeface="Aptos"/>
              </a:rPr>
              <a:t>PRODUCTS</a:t>
            </a:r>
          </a:p>
        </p:txBody>
      </p:sp>
      <p:sp>
        <p:nvSpPr>
          <p:cNvPr id="16" name="TextBox 15"/>
          <p:cNvSpPr txBox="1"/>
          <p:nvPr/>
        </p:nvSpPr>
        <p:spPr>
          <a:xfrm>
            <a:off x="6428231" y="1783080"/>
            <a:ext cx="2185416" cy="411480"/>
          </a:xfrm>
          <a:prstGeom prst="rect">
            <a:avLst/>
          </a:prstGeom>
          <a:noFill/>
        </p:spPr>
        <p:txBody>
          <a:bodyPr wrap="square">
            <a:spAutoFit/>
          </a:bodyPr>
          <a:lstStyle/>
          <a:p>
            <a:pPr algn="l"/>
            <a:r>
              <a:rPr sz="2300" b="1">
                <a:solidFill>
                  <a:srgbClr val="302018"/>
                </a:solidFill>
                <a:latin typeface="Aptos"/>
              </a:rPr>
              <a:t>8</a:t>
            </a:r>
          </a:p>
        </p:txBody>
      </p:sp>
      <p:sp>
        <p:nvSpPr>
          <p:cNvPr id="18" name="Rounded Rectangle 17"/>
          <p:cNvSpPr/>
          <p:nvPr/>
        </p:nvSpPr>
        <p:spPr>
          <a:xfrm>
            <a:off x="9052559" y="1371600"/>
            <a:ext cx="2514600" cy="114300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17151" y="1499616"/>
            <a:ext cx="2185416" cy="230832"/>
          </a:xfrm>
          <a:prstGeom prst="rect">
            <a:avLst/>
          </a:prstGeom>
          <a:noFill/>
        </p:spPr>
        <p:txBody>
          <a:bodyPr wrap="square">
            <a:spAutoFit/>
          </a:bodyPr>
          <a:lstStyle/>
          <a:p>
            <a:pPr algn="l"/>
            <a:r>
              <a:rPr sz="900" b="1" dirty="0">
                <a:solidFill>
                  <a:srgbClr val="6C625B"/>
                </a:solidFill>
                <a:latin typeface="Aptos"/>
              </a:rPr>
              <a:t>AVG. TRANSACTION</a:t>
            </a:r>
          </a:p>
        </p:txBody>
      </p:sp>
      <p:sp>
        <p:nvSpPr>
          <p:cNvPr id="20" name="TextBox 19"/>
          <p:cNvSpPr txBox="1"/>
          <p:nvPr/>
        </p:nvSpPr>
        <p:spPr>
          <a:xfrm>
            <a:off x="9217151" y="1783080"/>
            <a:ext cx="2185416" cy="411480"/>
          </a:xfrm>
          <a:prstGeom prst="rect">
            <a:avLst/>
          </a:prstGeom>
          <a:noFill/>
        </p:spPr>
        <p:txBody>
          <a:bodyPr wrap="square">
            <a:spAutoFit/>
          </a:bodyPr>
          <a:lstStyle/>
          <a:p>
            <a:pPr algn="l"/>
            <a:r>
              <a:rPr sz="2300" b="1">
                <a:solidFill>
                  <a:srgbClr val="302018"/>
                </a:solidFill>
                <a:latin typeface="Aptos"/>
              </a:rPr>
              <a:t>₹31.65</a:t>
            </a:r>
          </a:p>
        </p:txBody>
      </p:sp>
      <p:sp>
        <p:nvSpPr>
          <p:cNvPr id="23" name="TextBox 22"/>
          <p:cNvSpPr txBox="1"/>
          <p:nvPr/>
        </p:nvSpPr>
        <p:spPr>
          <a:xfrm>
            <a:off x="685800" y="3481335"/>
            <a:ext cx="6492240" cy="2011680"/>
          </a:xfrm>
          <a:prstGeom prst="rect">
            <a:avLst/>
          </a:prstGeom>
          <a:noFill/>
        </p:spPr>
        <p:txBody>
          <a:bodyPr wrap="square">
            <a:spAutoFit/>
          </a:bodyPr>
          <a:lstStyle/>
          <a:p>
            <a:pPr>
              <a:spcAft>
                <a:spcPts val="600"/>
              </a:spcAft>
              <a:defRPr sz="1500">
                <a:solidFill>
                  <a:srgbClr val="302018"/>
                </a:solidFill>
                <a:latin typeface="Aptos"/>
              </a:defRPr>
            </a:pPr>
            <a:r>
              <a:rPr dirty="0"/>
              <a:t>• Analyze transaction-level coffee sales data.</a:t>
            </a:r>
          </a:p>
          <a:p>
            <a:pPr>
              <a:spcAft>
                <a:spcPts val="600"/>
              </a:spcAft>
              <a:defRPr sz="1500">
                <a:solidFill>
                  <a:srgbClr val="302018"/>
                </a:solidFill>
                <a:latin typeface="Aptos"/>
              </a:defRPr>
            </a:pPr>
            <a:r>
              <a:rPr dirty="0"/>
              <a:t>• Clean and validate the dataset using Pandas.</a:t>
            </a:r>
          </a:p>
          <a:p>
            <a:pPr>
              <a:spcAft>
                <a:spcPts val="600"/>
              </a:spcAft>
              <a:defRPr sz="1500">
                <a:solidFill>
                  <a:srgbClr val="302018"/>
                </a:solidFill>
                <a:latin typeface="Aptos"/>
              </a:defRPr>
            </a:pPr>
            <a:r>
              <a:rPr dirty="0"/>
              <a:t>• Build KPIs and visualizations using NumPy and Matplotlib.</a:t>
            </a:r>
          </a:p>
          <a:p>
            <a:pPr>
              <a:spcAft>
                <a:spcPts val="600"/>
              </a:spcAft>
              <a:defRPr sz="1500">
                <a:solidFill>
                  <a:srgbClr val="302018"/>
                </a:solidFill>
                <a:latin typeface="Aptos"/>
              </a:defRPr>
            </a:pPr>
            <a:r>
              <a:rPr dirty="0"/>
              <a:t>• Convert findings into practical business suggestions.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24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57200"/>
          </a:xfrm>
          <a:prstGeom prst="rect">
            <a:avLst/>
          </a:prstGeom>
          <a:noFill/>
        </p:spPr>
        <p:txBody>
          <a:bodyPr wrap="square">
            <a:spAutoFit/>
          </a:bodyPr>
          <a:lstStyle/>
          <a:p>
            <a:pPr algn="l"/>
            <a:r>
              <a:rPr sz="2600" b="1">
                <a:solidFill>
                  <a:srgbClr val="302018"/>
                </a:solidFill>
                <a:latin typeface="Aptos"/>
              </a:rPr>
              <a:t>4. Analysis Using Pandas &amp; Data Cleaning</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Inspect → validate → transform</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nspect.png"/>
          <p:cNvPicPr>
            <a:picLocks noChangeAspect="1"/>
          </p:cNvPicPr>
          <p:nvPr/>
        </p:nvPicPr>
        <p:blipFill>
          <a:blip r:embed="rId2"/>
          <a:stretch>
            <a:fillRect/>
          </a:stretch>
        </p:blipFill>
        <p:spPr>
          <a:xfrm>
            <a:off x="548640" y="1325880"/>
            <a:ext cx="5577840" cy="2016604"/>
          </a:xfrm>
          <a:prstGeom prst="rect">
            <a:avLst/>
          </a:prstGeom>
        </p:spPr>
      </p:pic>
      <p:pic>
        <p:nvPicPr>
          <p:cNvPr id="7" name="Picture 6" descr="clean.png"/>
          <p:cNvPicPr>
            <a:picLocks noChangeAspect="1"/>
          </p:cNvPicPr>
          <p:nvPr/>
        </p:nvPicPr>
        <p:blipFill>
          <a:blip r:embed="rId3"/>
          <a:stretch>
            <a:fillRect/>
          </a:stretch>
        </p:blipFill>
        <p:spPr>
          <a:xfrm>
            <a:off x="6294119" y="1325880"/>
            <a:ext cx="5577841" cy="2016604"/>
          </a:xfrm>
          <a:prstGeom prst="rect">
            <a:avLst/>
          </a:prstGeom>
        </p:spPr>
      </p:pic>
      <p:sp>
        <p:nvSpPr>
          <p:cNvPr id="9" name="TextBox 8"/>
          <p:cNvSpPr txBox="1"/>
          <p:nvPr/>
        </p:nvSpPr>
        <p:spPr>
          <a:xfrm>
            <a:off x="384048" y="3694566"/>
            <a:ext cx="5029200" cy="868680"/>
          </a:xfrm>
          <a:prstGeom prst="rect">
            <a:avLst/>
          </a:prstGeom>
          <a:noFill/>
        </p:spPr>
        <p:txBody>
          <a:bodyPr wrap="square">
            <a:spAutoFit/>
          </a:bodyPr>
          <a:lstStyle/>
          <a:p>
            <a:pPr>
              <a:spcAft>
                <a:spcPts val="600"/>
              </a:spcAft>
              <a:defRPr sz="1200">
                <a:solidFill>
                  <a:srgbClr val="302018"/>
                </a:solidFill>
                <a:latin typeface="Aptos"/>
              </a:defRPr>
            </a:pPr>
            <a:r>
              <a:rPr dirty="0"/>
              <a:t>• Shape and data types</a:t>
            </a:r>
          </a:p>
          <a:p>
            <a:pPr>
              <a:spcAft>
                <a:spcPts val="600"/>
              </a:spcAft>
              <a:defRPr sz="1200">
                <a:solidFill>
                  <a:srgbClr val="302018"/>
                </a:solidFill>
                <a:latin typeface="Aptos"/>
              </a:defRPr>
            </a:pPr>
            <a:r>
              <a:rPr dirty="0"/>
              <a:t>• Missing values: 0 across all columns</a:t>
            </a:r>
          </a:p>
          <a:p>
            <a:pPr>
              <a:spcAft>
                <a:spcPts val="600"/>
              </a:spcAft>
              <a:defRPr sz="1200">
                <a:solidFill>
                  <a:srgbClr val="302018"/>
                </a:solidFill>
                <a:latin typeface="Aptos"/>
              </a:defRPr>
            </a:pPr>
            <a:r>
              <a:rPr dirty="0"/>
              <a:t>• Unique / categorical values</a:t>
            </a:r>
          </a:p>
          <a:p>
            <a:pPr>
              <a:spcAft>
                <a:spcPts val="600"/>
              </a:spcAft>
              <a:defRPr sz="1200">
                <a:solidFill>
                  <a:srgbClr val="302018"/>
                </a:solidFill>
                <a:latin typeface="Aptos"/>
              </a:defRPr>
            </a:pPr>
            <a:r>
              <a:rPr dirty="0"/>
              <a:t>• Duplicate rows: 0</a:t>
            </a:r>
          </a:p>
          <a:p>
            <a:pPr>
              <a:spcAft>
                <a:spcPts val="600"/>
              </a:spcAft>
              <a:defRPr sz="1200">
                <a:solidFill>
                  <a:srgbClr val="302018"/>
                </a:solidFill>
                <a:latin typeface="Aptos"/>
              </a:defRPr>
            </a:pPr>
            <a:r>
              <a:rPr dirty="0"/>
              <a:t>• Date and time conversion</a:t>
            </a:r>
          </a:p>
        </p:txBody>
      </p:sp>
      <p:sp>
        <p:nvSpPr>
          <p:cNvPr id="10" name="TextBox 9"/>
          <p:cNvSpPr txBox="1"/>
          <p:nvPr/>
        </p:nvSpPr>
        <p:spPr>
          <a:xfrm>
            <a:off x="6263640" y="3606956"/>
            <a:ext cx="1828800" cy="369332"/>
          </a:xfrm>
          <a:prstGeom prst="rect">
            <a:avLst/>
          </a:prstGeom>
          <a:noFill/>
        </p:spPr>
        <p:txBody>
          <a:bodyPr wrap="square">
            <a:spAutoFit/>
          </a:bodyPr>
          <a:lstStyle/>
          <a:p>
            <a:pPr algn="l"/>
            <a:r>
              <a:rPr b="1" dirty="0">
                <a:solidFill>
                  <a:srgbClr val="684633"/>
                </a:solidFill>
                <a:latin typeface="Aptos"/>
              </a:rPr>
              <a:t>Transformation</a:t>
            </a:r>
          </a:p>
        </p:txBody>
      </p:sp>
      <p:sp>
        <p:nvSpPr>
          <p:cNvPr id="11" name="TextBox 10"/>
          <p:cNvSpPr txBox="1"/>
          <p:nvPr/>
        </p:nvSpPr>
        <p:spPr>
          <a:xfrm>
            <a:off x="6263640" y="4000014"/>
            <a:ext cx="4846320" cy="738664"/>
          </a:xfrm>
          <a:prstGeom prst="rect">
            <a:avLst/>
          </a:prstGeom>
          <a:noFill/>
        </p:spPr>
        <p:txBody>
          <a:bodyPr wrap="square">
            <a:spAutoFit/>
          </a:bodyPr>
          <a:lstStyle/>
          <a:p>
            <a:pPr algn="l"/>
            <a:r>
              <a:rPr sz="1400" b="0" dirty="0">
                <a:solidFill>
                  <a:srgbClr val="302018"/>
                </a:solidFill>
                <a:latin typeface="Aptos"/>
              </a:rPr>
              <a:t>Date was converted to datetime, Time to time</a:t>
            </a:r>
            <a:r>
              <a:rPr lang="en-US" sz="1400" b="0" dirty="0">
                <a:solidFill>
                  <a:srgbClr val="302018"/>
                </a:solidFill>
                <a:latin typeface="Aptos"/>
              </a:rPr>
              <a:t> </a:t>
            </a:r>
            <a:r>
              <a:rPr sz="1400" b="0" dirty="0">
                <a:solidFill>
                  <a:srgbClr val="302018"/>
                </a:solidFill>
                <a:latin typeface="Aptos"/>
              </a:rPr>
              <a:t>delta and a combined datetime field was created. Year, Month and Day fields were also derived for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57200"/>
          </a:xfrm>
          <a:prstGeom prst="rect">
            <a:avLst/>
          </a:prstGeom>
          <a:noFill/>
        </p:spPr>
        <p:txBody>
          <a:bodyPr wrap="square">
            <a:spAutoFit/>
          </a:bodyPr>
          <a:lstStyle/>
          <a:p>
            <a:pPr algn="l"/>
            <a:r>
              <a:rPr sz="2600" b="1">
                <a:solidFill>
                  <a:srgbClr val="302018"/>
                </a:solidFill>
                <a:latin typeface="Aptos"/>
              </a:rPr>
              <a:t>5. KPI Cards with NumPy Code</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Core metrics calculated from the transaction values</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kpi.png"/>
          <p:cNvPicPr>
            <a:picLocks noChangeAspect="1"/>
          </p:cNvPicPr>
          <p:nvPr/>
        </p:nvPicPr>
        <p:blipFill>
          <a:blip r:embed="rId2"/>
          <a:stretch>
            <a:fillRect/>
          </a:stretch>
        </p:blipFill>
        <p:spPr>
          <a:xfrm>
            <a:off x="502920" y="1280160"/>
            <a:ext cx="5623560" cy="2033133"/>
          </a:xfrm>
          <a:prstGeom prst="rect">
            <a:avLst/>
          </a:prstGeom>
        </p:spPr>
      </p:pic>
      <p:sp>
        <p:nvSpPr>
          <p:cNvPr id="7" name="Rounded Rectangle 6"/>
          <p:cNvSpPr/>
          <p:nvPr/>
        </p:nvSpPr>
        <p:spPr>
          <a:xfrm>
            <a:off x="6400800" y="1371600"/>
            <a:ext cx="2240280" cy="100584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65392" y="1499616"/>
            <a:ext cx="1911096" cy="182880"/>
          </a:xfrm>
          <a:prstGeom prst="rect">
            <a:avLst/>
          </a:prstGeom>
          <a:noFill/>
        </p:spPr>
        <p:txBody>
          <a:bodyPr wrap="square">
            <a:spAutoFit/>
          </a:bodyPr>
          <a:lstStyle/>
          <a:p>
            <a:pPr algn="l"/>
            <a:r>
              <a:rPr sz="850" b="1">
                <a:solidFill>
                  <a:srgbClr val="6C625B"/>
                </a:solidFill>
                <a:latin typeface="Aptos"/>
              </a:rPr>
              <a:t>TOTAL REVENUE</a:t>
            </a:r>
          </a:p>
        </p:txBody>
      </p:sp>
      <p:sp>
        <p:nvSpPr>
          <p:cNvPr id="9" name="TextBox 8"/>
          <p:cNvSpPr txBox="1"/>
          <p:nvPr/>
        </p:nvSpPr>
        <p:spPr>
          <a:xfrm>
            <a:off x="6565392" y="1783080"/>
            <a:ext cx="1911096" cy="411480"/>
          </a:xfrm>
          <a:prstGeom prst="rect">
            <a:avLst/>
          </a:prstGeom>
          <a:noFill/>
        </p:spPr>
        <p:txBody>
          <a:bodyPr wrap="square">
            <a:spAutoFit/>
          </a:bodyPr>
          <a:lstStyle/>
          <a:p>
            <a:pPr algn="l"/>
            <a:r>
              <a:rPr sz="2300" b="1">
                <a:solidFill>
                  <a:srgbClr val="302018"/>
                </a:solidFill>
                <a:latin typeface="Aptos"/>
              </a:rPr>
              <a:t>₹112,245.58</a:t>
            </a:r>
          </a:p>
        </p:txBody>
      </p:sp>
      <p:sp>
        <p:nvSpPr>
          <p:cNvPr id="10" name="Rounded Rectangle 9"/>
          <p:cNvSpPr/>
          <p:nvPr/>
        </p:nvSpPr>
        <p:spPr>
          <a:xfrm>
            <a:off x="8915400" y="1371600"/>
            <a:ext cx="2240280" cy="100584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079992" y="1499616"/>
            <a:ext cx="1911096" cy="182880"/>
          </a:xfrm>
          <a:prstGeom prst="rect">
            <a:avLst/>
          </a:prstGeom>
          <a:noFill/>
        </p:spPr>
        <p:txBody>
          <a:bodyPr wrap="square">
            <a:spAutoFit/>
          </a:bodyPr>
          <a:lstStyle/>
          <a:p>
            <a:pPr algn="l"/>
            <a:r>
              <a:rPr sz="850" b="1">
                <a:solidFill>
                  <a:srgbClr val="6C625B"/>
                </a:solidFill>
                <a:latin typeface="Aptos"/>
              </a:rPr>
              <a:t>TRANSACTIONS</a:t>
            </a:r>
          </a:p>
        </p:txBody>
      </p:sp>
      <p:sp>
        <p:nvSpPr>
          <p:cNvPr id="12" name="TextBox 11"/>
          <p:cNvSpPr txBox="1"/>
          <p:nvPr/>
        </p:nvSpPr>
        <p:spPr>
          <a:xfrm>
            <a:off x="9079992" y="1783080"/>
            <a:ext cx="1911096" cy="411480"/>
          </a:xfrm>
          <a:prstGeom prst="rect">
            <a:avLst/>
          </a:prstGeom>
          <a:noFill/>
        </p:spPr>
        <p:txBody>
          <a:bodyPr wrap="square">
            <a:spAutoFit/>
          </a:bodyPr>
          <a:lstStyle/>
          <a:p>
            <a:pPr algn="l"/>
            <a:r>
              <a:rPr sz="2300" b="1">
                <a:solidFill>
                  <a:srgbClr val="302018"/>
                </a:solidFill>
                <a:latin typeface="Aptos"/>
              </a:rPr>
              <a:t>3,547</a:t>
            </a:r>
          </a:p>
        </p:txBody>
      </p:sp>
      <p:sp>
        <p:nvSpPr>
          <p:cNvPr id="13" name="Rounded Rectangle 12"/>
          <p:cNvSpPr/>
          <p:nvPr/>
        </p:nvSpPr>
        <p:spPr>
          <a:xfrm>
            <a:off x="6400800" y="2651760"/>
            <a:ext cx="2240280" cy="100584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65392" y="2779776"/>
            <a:ext cx="1911096" cy="182880"/>
          </a:xfrm>
          <a:prstGeom prst="rect">
            <a:avLst/>
          </a:prstGeom>
          <a:noFill/>
        </p:spPr>
        <p:txBody>
          <a:bodyPr wrap="square">
            <a:spAutoFit/>
          </a:bodyPr>
          <a:lstStyle/>
          <a:p>
            <a:pPr algn="l"/>
            <a:r>
              <a:rPr sz="850" b="1">
                <a:solidFill>
                  <a:srgbClr val="6C625B"/>
                </a:solidFill>
                <a:latin typeface="Aptos"/>
              </a:rPr>
              <a:t>AVERAGE</a:t>
            </a:r>
          </a:p>
        </p:txBody>
      </p:sp>
      <p:sp>
        <p:nvSpPr>
          <p:cNvPr id="15" name="TextBox 14"/>
          <p:cNvSpPr txBox="1"/>
          <p:nvPr/>
        </p:nvSpPr>
        <p:spPr>
          <a:xfrm>
            <a:off x="6565392" y="3063240"/>
            <a:ext cx="1911096" cy="411480"/>
          </a:xfrm>
          <a:prstGeom prst="rect">
            <a:avLst/>
          </a:prstGeom>
          <a:noFill/>
        </p:spPr>
        <p:txBody>
          <a:bodyPr wrap="square">
            <a:spAutoFit/>
          </a:bodyPr>
          <a:lstStyle/>
          <a:p>
            <a:pPr algn="l"/>
            <a:r>
              <a:rPr sz="2300" b="1">
                <a:solidFill>
                  <a:srgbClr val="302018"/>
                </a:solidFill>
                <a:latin typeface="Aptos"/>
              </a:rPr>
              <a:t>₹31.65</a:t>
            </a:r>
          </a:p>
        </p:txBody>
      </p:sp>
      <p:sp>
        <p:nvSpPr>
          <p:cNvPr id="16" name="Rounded Rectangle 15"/>
          <p:cNvSpPr/>
          <p:nvPr/>
        </p:nvSpPr>
        <p:spPr>
          <a:xfrm>
            <a:off x="8915400" y="2651760"/>
            <a:ext cx="2240280" cy="100584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79992" y="2779776"/>
            <a:ext cx="1911096" cy="182880"/>
          </a:xfrm>
          <a:prstGeom prst="rect">
            <a:avLst/>
          </a:prstGeom>
          <a:noFill/>
        </p:spPr>
        <p:txBody>
          <a:bodyPr wrap="square">
            <a:spAutoFit/>
          </a:bodyPr>
          <a:lstStyle/>
          <a:p>
            <a:pPr algn="l"/>
            <a:r>
              <a:rPr sz="850" b="1">
                <a:solidFill>
                  <a:srgbClr val="6C625B"/>
                </a:solidFill>
                <a:latin typeface="Aptos"/>
              </a:rPr>
              <a:t>MEDIAN</a:t>
            </a:r>
          </a:p>
        </p:txBody>
      </p:sp>
      <p:sp>
        <p:nvSpPr>
          <p:cNvPr id="18" name="TextBox 17"/>
          <p:cNvSpPr txBox="1"/>
          <p:nvPr/>
        </p:nvSpPr>
        <p:spPr>
          <a:xfrm>
            <a:off x="9079992" y="3063240"/>
            <a:ext cx="1911096" cy="411480"/>
          </a:xfrm>
          <a:prstGeom prst="rect">
            <a:avLst/>
          </a:prstGeom>
          <a:noFill/>
        </p:spPr>
        <p:txBody>
          <a:bodyPr wrap="square">
            <a:spAutoFit/>
          </a:bodyPr>
          <a:lstStyle/>
          <a:p>
            <a:pPr algn="l"/>
            <a:r>
              <a:rPr sz="2300" b="1">
                <a:solidFill>
                  <a:srgbClr val="302018"/>
                </a:solidFill>
                <a:latin typeface="Aptos"/>
              </a:rPr>
              <a:t>₹32.82</a:t>
            </a:r>
          </a:p>
        </p:txBody>
      </p:sp>
      <p:sp>
        <p:nvSpPr>
          <p:cNvPr id="19" name="Rounded Rectangle 18"/>
          <p:cNvSpPr/>
          <p:nvPr/>
        </p:nvSpPr>
        <p:spPr>
          <a:xfrm>
            <a:off x="6400800" y="3931920"/>
            <a:ext cx="2240280" cy="100584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65392" y="4059935"/>
            <a:ext cx="1911096" cy="182880"/>
          </a:xfrm>
          <a:prstGeom prst="rect">
            <a:avLst/>
          </a:prstGeom>
          <a:noFill/>
        </p:spPr>
        <p:txBody>
          <a:bodyPr wrap="square">
            <a:spAutoFit/>
          </a:bodyPr>
          <a:lstStyle/>
          <a:p>
            <a:pPr algn="l"/>
            <a:r>
              <a:rPr sz="850" b="1">
                <a:solidFill>
                  <a:srgbClr val="6C625B"/>
                </a:solidFill>
                <a:latin typeface="Aptos"/>
              </a:rPr>
              <a:t>MINIMUM</a:t>
            </a:r>
          </a:p>
        </p:txBody>
      </p:sp>
      <p:sp>
        <p:nvSpPr>
          <p:cNvPr id="21" name="TextBox 20"/>
          <p:cNvSpPr txBox="1"/>
          <p:nvPr/>
        </p:nvSpPr>
        <p:spPr>
          <a:xfrm>
            <a:off x="6565392" y="4343400"/>
            <a:ext cx="1911096" cy="411480"/>
          </a:xfrm>
          <a:prstGeom prst="rect">
            <a:avLst/>
          </a:prstGeom>
          <a:noFill/>
        </p:spPr>
        <p:txBody>
          <a:bodyPr wrap="square">
            <a:spAutoFit/>
          </a:bodyPr>
          <a:lstStyle/>
          <a:p>
            <a:pPr algn="l"/>
            <a:r>
              <a:rPr sz="2300" b="1">
                <a:solidFill>
                  <a:srgbClr val="302018"/>
                </a:solidFill>
                <a:latin typeface="Aptos"/>
              </a:rPr>
              <a:t>₹18.12</a:t>
            </a:r>
          </a:p>
        </p:txBody>
      </p:sp>
      <p:sp>
        <p:nvSpPr>
          <p:cNvPr id="22" name="Rounded Rectangle 21"/>
          <p:cNvSpPr/>
          <p:nvPr/>
        </p:nvSpPr>
        <p:spPr>
          <a:xfrm>
            <a:off x="8915400" y="3931920"/>
            <a:ext cx="2240280" cy="1005840"/>
          </a:xfrm>
          <a:prstGeom prst="roundRect">
            <a:avLst/>
          </a:prstGeom>
          <a:solidFill>
            <a:srgbClr val="FFFFFF"/>
          </a:solidFill>
          <a:ln>
            <a:solidFill>
              <a:srgbClr val="E0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79992" y="4059935"/>
            <a:ext cx="1911096" cy="182880"/>
          </a:xfrm>
          <a:prstGeom prst="rect">
            <a:avLst/>
          </a:prstGeom>
          <a:noFill/>
        </p:spPr>
        <p:txBody>
          <a:bodyPr wrap="square">
            <a:spAutoFit/>
          </a:bodyPr>
          <a:lstStyle/>
          <a:p>
            <a:pPr algn="l"/>
            <a:r>
              <a:rPr sz="850" b="1">
                <a:solidFill>
                  <a:srgbClr val="6C625B"/>
                </a:solidFill>
                <a:latin typeface="Aptos"/>
              </a:rPr>
              <a:t>MAXIMUM</a:t>
            </a:r>
          </a:p>
        </p:txBody>
      </p:sp>
      <p:sp>
        <p:nvSpPr>
          <p:cNvPr id="24" name="TextBox 23"/>
          <p:cNvSpPr txBox="1"/>
          <p:nvPr/>
        </p:nvSpPr>
        <p:spPr>
          <a:xfrm>
            <a:off x="9079992" y="4343400"/>
            <a:ext cx="1911096" cy="411480"/>
          </a:xfrm>
          <a:prstGeom prst="rect">
            <a:avLst/>
          </a:prstGeom>
          <a:noFill/>
        </p:spPr>
        <p:txBody>
          <a:bodyPr wrap="square">
            <a:spAutoFit/>
          </a:bodyPr>
          <a:lstStyle/>
          <a:p>
            <a:pPr algn="l"/>
            <a:r>
              <a:rPr sz="2300" b="1">
                <a:solidFill>
                  <a:srgbClr val="302018"/>
                </a:solidFill>
                <a:latin typeface="Aptos"/>
              </a:rPr>
              <a:t>₹38.70</a:t>
            </a:r>
          </a:p>
        </p:txBody>
      </p:sp>
      <p:sp>
        <p:nvSpPr>
          <p:cNvPr id="25" name="TextBox 24"/>
          <p:cNvSpPr txBox="1"/>
          <p:nvPr/>
        </p:nvSpPr>
        <p:spPr>
          <a:xfrm>
            <a:off x="6400800" y="5440680"/>
            <a:ext cx="4754880" cy="457200"/>
          </a:xfrm>
          <a:prstGeom prst="rect">
            <a:avLst/>
          </a:prstGeom>
          <a:noFill/>
        </p:spPr>
        <p:txBody>
          <a:bodyPr wrap="square">
            <a:spAutoFit/>
          </a:bodyPr>
          <a:lstStyle/>
          <a:p>
            <a:pPr algn="l"/>
            <a:r>
              <a:rPr sz="1200" b="0">
                <a:solidFill>
                  <a:srgbClr val="6C625B"/>
                </a:solidFill>
                <a:latin typeface="Aptos"/>
              </a:rPr>
              <a:t>These KPIs establish the baseline for product and time-based comparisons.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sz="2600" b="1" dirty="0">
                <a:solidFill>
                  <a:srgbClr val="302018"/>
                </a:solidFill>
                <a:latin typeface="Aptos"/>
              </a:rPr>
              <a:t>1 Revenue by Product</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The bar chart ranks products by total revenue, making product contribution easy to compare.</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325880"/>
            <a:ext cx="6537960" cy="4434840"/>
          </a:xfrm>
          <a:prstGeom prst="roundRect">
            <a:avLst/>
          </a:prstGeom>
          <a:solidFill>
            <a:srgbClr val="FFFFFF"/>
          </a:solidFill>
          <a:ln>
            <a:solidFill>
              <a:srgbClr val="E1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roduct_revenue.png"/>
          <p:cNvPicPr>
            <a:picLocks noChangeAspect="1"/>
          </p:cNvPicPr>
          <p:nvPr/>
        </p:nvPicPr>
        <p:blipFill>
          <a:blip r:embed="rId2"/>
          <a:stretch>
            <a:fillRect/>
          </a:stretch>
        </p:blipFill>
        <p:spPr>
          <a:xfrm>
            <a:off x="658368" y="1875537"/>
            <a:ext cx="6217920" cy="3201478"/>
          </a:xfrm>
          <a:prstGeom prst="rect">
            <a:avLst/>
          </a:prstGeom>
        </p:spPr>
      </p:pic>
      <p:pic>
        <p:nvPicPr>
          <p:cNvPr id="8" name="Picture 7" descr="product_code.png"/>
          <p:cNvPicPr>
            <a:picLocks noChangeAspect="1"/>
          </p:cNvPicPr>
          <p:nvPr/>
        </p:nvPicPr>
        <p:blipFill>
          <a:blip r:embed="rId3"/>
          <a:stretch>
            <a:fillRect/>
          </a:stretch>
        </p:blipFill>
        <p:spPr>
          <a:xfrm>
            <a:off x="7220839" y="2084639"/>
            <a:ext cx="4835059" cy="1748060"/>
          </a:xfrm>
          <a:prstGeom prst="rect">
            <a:avLst/>
          </a:prstGeom>
        </p:spPr>
      </p:pic>
      <p:sp>
        <p:nvSpPr>
          <p:cNvPr id="9" name="TextBox 8"/>
          <p:cNvSpPr txBox="1"/>
          <p:nvPr/>
        </p:nvSpPr>
        <p:spPr>
          <a:xfrm>
            <a:off x="7175120" y="4097875"/>
            <a:ext cx="2743200" cy="274320"/>
          </a:xfrm>
          <a:prstGeom prst="rect">
            <a:avLst/>
          </a:prstGeom>
          <a:noFill/>
        </p:spPr>
        <p:txBody>
          <a:bodyPr wrap="square">
            <a:spAutoFit/>
          </a:bodyPr>
          <a:lstStyle/>
          <a:p>
            <a:pPr algn="l"/>
            <a:r>
              <a:rPr sz="1500" b="1" dirty="0">
                <a:solidFill>
                  <a:srgbClr val="684633"/>
                </a:solidFill>
                <a:latin typeface="Aptos"/>
              </a:rPr>
              <a:t>Visualization description</a:t>
            </a:r>
          </a:p>
        </p:txBody>
      </p:sp>
      <p:sp>
        <p:nvSpPr>
          <p:cNvPr id="10" name="TextBox 9"/>
          <p:cNvSpPr txBox="1"/>
          <p:nvPr/>
        </p:nvSpPr>
        <p:spPr>
          <a:xfrm>
            <a:off x="7175120" y="4436203"/>
            <a:ext cx="4160520" cy="461665"/>
          </a:xfrm>
          <a:prstGeom prst="rect">
            <a:avLst/>
          </a:prstGeom>
          <a:noFill/>
        </p:spPr>
        <p:txBody>
          <a:bodyPr wrap="square">
            <a:spAutoFit/>
          </a:bodyPr>
          <a:lstStyle/>
          <a:p>
            <a:pPr algn="l"/>
            <a:r>
              <a:rPr sz="1200" b="0" dirty="0">
                <a:solidFill>
                  <a:srgbClr val="302018"/>
                </a:solidFill>
                <a:latin typeface="Aptos"/>
              </a:rPr>
              <a:t>The bar chart ranks products by total revenue, making product contribution easy to compare.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57200"/>
          </a:xfrm>
          <a:prstGeom prst="rect">
            <a:avLst/>
          </a:prstGeom>
          <a:noFill/>
        </p:spPr>
        <p:txBody>
          <a:bodyPr wrap="square">
            <a:spAutoFit/>
          </a:bodyPr>
          <a:lstStyle/>
          <a:p>
            <a:pPr algn="l"/>
            <a:r>
              <a:rPr sz="2600" b="1">
                <a:solidFill>
                  <a:srgbClr val="302018"/>
                </a:solidFill>
                <a:latin typeface="Aptos"/>
              </a:rPr>
              <a:t>6.2 Visualization — Monthly Revenue Trend</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The line chart tracks revenue movement month by month and highlights peaks and dips.</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325880"/>
            <a:ext cx="6537960" cy="4434840"/>
          </a:xfrm>
          <a:prstGeom prst="roundRect">
            <a:avLst/>
          </a:prstGeom>
          <a:solidFill>
            <a:srgbClr val="FFFFFF"/>
          </a:solidFill>
          <a:ln>
            <a:solidFill>
              <a:srgbClr val="E1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monthly_trend.png"/>
          <p:cNvPicPr>
            <a:picLocks noChangeAspect="1"/>
          </p:cNvPicPr>
          <p:nvPr/>
        </p:nvPicPr>
        <p:blipFill>
          <a:blip r:embed="rId2"/>
          <a:stretch>
            <a:fillRect/>
          </a:stretch>
        </p:blipFill>
        <p:spPr>
          <a:xfrm>
            <a:off x="662940" y="1828261"/>
            <a:ext cx="6217920" cy="3201478"/>
          </a:xfrm>
          <a:prstGeom prst="rect">
            <a:avLst/>
          </a:prstGeom>
        </p:spPr>
      </p:pic>
      <p:pic>
        <p:nvPicPr>
          <p:cNvPr id="8" name="Picture 7" descr="month_code.png"/>
          <p:cNvPicPr>
            <a:picLocks noChangeAspect="1"/>
          </p:cNvPicPr>
          <p:nvPr/>
        </p:nvPicPr>
        <p:blipFill>
          <a:blip r:embed="rId3"/>
          <a:stretch>
            <a:fillRect/>
          </a:stretch>
        </p:blipFill>
        <p:spPr>
          <a:xfrm>
            <a:off x="7196328" y="1325880"/>
            <a:ext cx="4835059" cy="1748060"/>
          </a:xfrm>
          <a:prstGeom prst="rect">
            <a:avLst/>
          </a:prstGeom>
        </p:spPr>
      </p:pic>
      <p:sp>
        <p:nvSpPr>
          <p:cNvPr id="9" name="TextBox 8"/>
          <p:cNvSpPr txBox="1"/>
          <p:nvPr/>
        </p:nvSpPr>
        <p:spPr>
          <a:xfrm>
            <a:off x="7118506" y="3269040"/>
            <a:ext cx="2743200" cy="274320"/>
          </a:xfrm>
          <a:prstGeom prst="rect">
            <a:avLst/>
          </a:prstGeom>
          <a:noFill/>
        </p:spPr>
        <p:txBody>
          <a:bodyPr wrap="square">
            <a:spAutoFit/>
          </a:bodyPr>
          <a:lstStyle/>
          <a:p>
            <a:pPr algn="l"/>
            <a:r>
              <a:rPr sz="1500" b="1" dirty="0">
                <a:solidFill>
                  <a:srgbClr val="684633"/>
                </a:solidFill>
                <a:latin typeface="Aptos"/>
              </a:rPr>
              <a:t>Visualization description</a:t>
            </a:r>
          </a:p>
        </p:txBody>
      </p:sp>
      <p:sp>
        <p:nvSpPr>
          <p:cNvPr id="10" name="TextBox 9"/>
          <p:cNvSpPr txBox="1"/>
          <p:nvPr/>
        </p:nvSpPr>
        <p:spPr>
          <a:xfrm>
            <a:off x="7118506" y="3607368"/>
            <a:ext cx="4160520" cy="594360"/>
          </a:xfrm>
          <a:prstGeom prst="rect">
            <a:avLst/>
          </a:prstGeom>
          <a:noFill/>
        </p:spPr>
        <p:txBody>
          <a:bodyPr wrap="square">
            <a:spAutoFit/>
          </a:bodyPr>
          <a:lstStyle/>
          <a:p>
            <a:pPr algn="l"/>
            <a:r>
              <a:rPr sz="1130" b="0">
                <a:solidFill>
                  <a:srgbClr val="302018"/>
                </a:solidFill>
                <a:latin typeface="Aptos"/>
              </a:rPr>
              <a:t>The line chart tracks revenue movement month by month and highlights peaks and dips.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sz="2600" b="1" dirty="0">
                <a:solidFill>
                  <a:srgbClr val="302018"/>
                </a:solidFill>
                <a:latin typeface="Aptos"/>
              </a:rPr>
              <a:t>3</a:t>
            </a:r>
            <a:r>
              <a:rPr lang="en-US" sz="2600" b="1" dirty="0">
                <a:solidFill>
                  <a:srgbClr val="302018"/>
                </a:solidFill>
                <a:latin typeface="Aptos"/>
              </a:rPr>
              <a:t>. </a:t>
            </a:r>
            <a:r>
              <a:rPr sz="2600" b="1" dirty="0">
                <a:solidFill>
                  <a:srgbClr val="302018"/>
                </a:solidFill>
                <a:latin typeface="Aptos"/>
              </a:rPr>
              <a:t>Transactions by Hour</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The hourly column chart groups transactions by hour and shows the strongest demand periods.</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325880"/>
            <a:ext cx="6537960" cy="4434840"/>
          </a:xfrm>
          <a:prstGeom prst="roundRect">
            <a:avLst/>
          </a:prstGeom>
          <a:solidFill>
            <a:srgbClr val="FFFFFF"/>
          </a:solidFill>
          <a:ln>
            <a:solidFill>
              <a:srgbClr val="E1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hourly_transactions.png"/>
          <p:cNvPicPr>
            <a:picLocks noChangeAspect="1"/>
          </p:cNvPicPr>
          <p:nvPr/>
        </p:nvPicPr>
        <p:blipFill>
          <a:blip r:embed="rId2"/>
          <a:stretch>
            <a:fillRect/>
          </a:stretch>
        </p:blipFill>
        <p:spPr>
          <a:xfrm>
            <a:off x="594360" y="1702117"/>
            <a:ext cx="6217920" cy="3201478"/>
          </a:xfrm>
          <a:prstGeom prst="rect">
            <a:avLst/>
          </a:prstGeom>
        </p:spPr>
      </p:pic>
      <p:pic>
        <p:nvPicPr>
          <p:cNvPr id="8" name="Picture 7" descr="hour_code.png"/>
          <p:cNvPicPr>
            <a:picLocks noChangeAspect="1"/>
          </p:cNvPicPr>
          <p:nvPr/>
        </p:nvPicPr>
        <p:blipFill>
          <a:blip r:embed="rId3"/>
          <a:stretch>
            <a:fillRect/>
          </a:stretch>
        </p:blipFill>
        <p:spPr>
          <a:xfrm>
            <a:off x="7181927" y="1384248"/>
            <a:ext cx="4888873" cy="1767516"/>
          </a:xfrm>
          <a:prstGeom prst="rect">
            <a:avLst/>
          </a:prstGeom>
        </p:spPr>
      </p:pic>
      <p:sp>
        <p:nvSpPr>
          <p:cNvPr id="9" name="TextBox 8"/>
          <p:cNvSpPr txBox="1"/>
          <p:nvPr/>
        </p:nvSpPr>
        <p:spPr>
          <a:xfrm>
            <a:off x="7130371" y="3454290"/>
            <a:ext cx="2743200" cy="338554"/>
          </a:xfrm>
          <a:prstGeom prst="rect">
            <a:avLst/>
          </a:prstGeom>
          <a:noFill/>
        </p:spPr>
        <p:txBody>
          <a:bodyPr wrap="square">
            <a:spAutoFit/>
          </a:bodyPr>
          <a:lstStyle/>
          <a:p>
            <a:pPr algn="l"/>
            <a:r>
              <a:rPr sz="1600" b="1" dirty="0">
                <a:solidFill>
                  <a:srgbClr val="684633"/>
                </a:solidFill>
                <a:latin typeface="Aptos"/>
              </a:rPr>
              <a:t>Visualization description</a:t>
            </a:r>
          </a:p>
        </p:txBody>
      </p:sp>
      <p:sp>
        <p:nvSpPr>
          <p:cNvPr id="10" name="TextBox 9"/>
          <p:cNvSpPr txBox="1"/>
          <p:nvPr/>
        </p:nvSpPr>
        <p:spPr>
          <a:xfrm>
            <a:off x="7130371" y="3792618"/>
            <a:ext cx="4160520" cy="461665"/>
          </a:xfrm>
          <a:prstGeom prst="rect">
            <a:avLst/>
          </a:prstGeom>
          <a:noFill/>
        </p:spPr>
        <p:txBody>
          <a:bodyPr wrap="square">
            <a:spAutoFit/>
          </a:bodyPr>
          <a:lstStyle/>
          <a:p>
            <a:pPr algn="l"/>
            <a:r>
              <a:rPr sz="1200" b="0" dirty="0">
                <a:solidFill>
                  <a:srgbClr val="302018"/>
                </a:solidFill>
                <a:latin typeface="Aptos"/>
              </a:rPr>
              <a:t>The hourly column chart groups transactions by hour and shows the strongest demand periods.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sz="2600" b="1" dirty="0">
                <a:solidFill>
                  <a:srgbClr val="302018"/>
                </a:solidFill>
                <a:latin typeface="Aptos"/>
              </a:rPr>
              <a:t>4</a:t>
            </a:r>
            <a:r>
              <a:rPr lang="en-US" sz="2600" b="1" dirty="0">
                <a:solidFill>
                  <a:srgbClr val="302018"/>
                </a:solidFill>
                <a:latin typeface="Aptos"/>
              </a:rPr>
              <a:t>. </a:t>
            </a:r>
            <a:r>
              <a:rPr sz="2600" b="1" dirty="0">
                <a:solidFill>
                  <a:srgbClr val="302018"/>
                </a:solidFill>
                <a:latin typeface="Aptos"/>
              </a:rPr>
              <a:t>Revenue by Weekday</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200" b="0" dirty="0">
                <a:solidFill>
                  <a:srgbClr val="6C625B"/>
                </a:solidFill>
                <a:latin typeface="Aptos"/>
              </a:rPr>
              <a:t>The weekday chart compares total revenue across Monday</a:t>
            </a:r>
            <a:r>
              <a:rPr lang="en-US" sz="1200" b="0" dirty="0">
                <a:solidFill>
                  <a:srgbClr val="6C625B"/>
                </a:solidFill>
                <a:latin typeface="Aptos"/>
              </a:rPr>
              <a:t> </a:t>
            </a:r>
            <a:r>
              <a:rPr lang="en-US" sz="1200" dirty="0">
                <a:solidFill>
                  <a:srgbClr val="6C625B"/>
                </a:solidFill>
                <a:latin typeface="Aptos"/>
              </a:rPr>
              <a:t>-</a:t>
            </a:r>
            <a:r>
              <a:rPr lang="en-US" sz="1200" b="0" dirty="0">
                <a:solidFill>
                  <a:srgbClr val="6C625B"/>
                </a:solidFill>
                <a:latin typeface="Aptos"/>
              </a:rPr>
              <a:t> </a:t>
            </a:r>
            <a:r>
              <a:rPr sz="1200" b="0" dirty="0">
                <a:solidFill>
                  <a:srgbClr val="6C625B"/>
                </a:solidFill>
                <a:latin typeface="Aptos"/>
              </a:rPr>
              <a:t>Sunday.</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4340" y="1600200"/>
            <a:ext cx="6537960" cy="4434840"/>
          </a:xfrm>
          <a:prstGeom prst="roundRect">
            <a:avLst/>
          </a:prstGeom>
          <a:solidFill>
            <a:srgbClr val="FFFFFF"/>
          </a:solidFill>
          <a:ln>
            <a:solidFill>
              <a:srgbClr val="E1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weekday_revenue.png"/>
          <p:cNvPicPr>
            <a:picLocks noChangeAspect="1"/>
          </p:cNvPicPr>
          <p:nvPr/>
        </p:nvPicPr>
        <p:blipFill>
          <a:blip r:embed="rId2"/>
          <a:stretch>
            <a:fillRect/>
          </a:stretch>
        </p:blipFill>
        <p:spPr>
          <a:xfrm>
            <a:off x="589788" y="2039776"/>
            <a:ext cx="6217920" cy="3201478"/>
          </a:xfrm>
          <a:prstGeom prst="rect">
            <a:avLst/>
          </a:prstGeom>
        </p:spPr>
      </p:pic>
      <p:pic>
        <p:nvPicPr>
          <p:cNvPr id="8" name="Picture 7" descr="week_code.png"/>
          <p:cNvPicPr>
            <a:picLocks noChangeAspect="1"/>
          </p:cNvPicPr>
          <p:nvPr/>
        </p:nvPicPr>
        <p:blipFill>
          <a:blip r:embed="rId3"/>
          <a:stretch>
            <a:fillRect/>
          </a:stretch>
        </p:blipFill>
        <p:spPr>
          <a:xfrm>
            <a:off x="7155180" y="1925492"/>
            <a:ext cx="4922215" cy="1779570"/>
          </a:xfrm>
          <a:prstGeom prst="rect">
            <a:avLst/>
          </a:prstGeom>
        </p:spPr>
      </p:pic>
      <p:sp>
        <p:nvSpPr>
          <p:cNvPr id="9" name="TextBox 8"/>
          <p:cNvSpPr txBox="1"/>
          <p:nvPr/>
        </p:nvSpPr>
        <p:spPr>
          <a:xfrm>
            <a:off x="7086600" y="3900596"/>
            <a:ext cx="2743200" cy="274320"/>
          </a:xfrm>
          <a:prstGeom prst="rect">
            <a:avLst/>
          </a:prstGeom>
          <a:noFill/>
        </p:spPr>
        <p:txBody>
          <a:bodyPr wrap="square">
            <a:spAutoFit/>
          </a:bodyPr>
          <a:lstStyle/>
          <a:p>
            <a:pPr algn="l"/>
            <a:r>
              <a:rPr sz="1500" b="1" dirty="0">
                <a:solidFill>
                  <a:srgbClr val="684633"/>
                </a:solidFill>
                <a:latin typeface="Aptos"/>
              </a:rPr>
              <a:t>Visualization description</a:t>
            </a:r>
          </a:p>
        </p:txBody>
      </p:sp>
      <p:sp>
        <p:nvSpPr>
          <p:cNvPr id="10" name="TextBox 9"/>
          <p:cNvSpPr txBox="1"/>
          <p:nvPr/>
        </p:nvSpPr>
        <p:spPr>
          <a:xfrm>
            <a:off x="7086600" y="4238924"/>
            <a:ext cx="4160520" cy="440120"/>
          </a:xfrm>
          <a:prstGeom prst="rect">
            <a:avLst/>
          </a:prstGeom>
          <a:noFill/>
        </p:spPr>
        <p:txBody>
          <a:bodyPr wrap="square">
            <a:spAutoFit/>
          </a:bodyPr>
          <a:lstStyle/>
          <a:p>
            <a:pPr algn="l"/>
            <a:r>
              <a:rPr sz="1130" b="0" dirty="0">
                <a:solidFill>
                  <a:srgbClr val="302018"/>
                </a:solidFill>
                <a:latin typeface="Aptos"/>
              </a:rPr>
              <a:t>The weekday chart compares total revenue across Monday</a:t>
            </a:r>
            <a:r>
              <a:rPr lang="en-US" sz="1130" b="0" dirty="0">
                <a:solidFill>
                  <a:srgbClr val="302018"/>
                </a:solidFill>
                <a:latin typeface="Aptos"/>
              </a:rPr>
              <a:t> -</a:t>
            </a:r>
            <a:r>
              <a:rPr sz="1130" b="0" dirty="0">
                <a:solidFill>
                  <a:srgbClr val="302018"/>
                </a:solidFill>
                <a:latin typeface="Aptos"/>
              </a:rPr>
              <a:t>Sunday.</a:t>
            </a:r>
          </a:p>
        </p:txBody>
      </p:sp>
      <p:sp>
        <p:nvSpPr>
          <p:cNvPr id="13" name="TextBox 12"/>
          <p:cNvSpPr txBox="1"/>
          <p:nvPr/>
        </p:nvSpPr>
        <p:spPr>
          <a:xfrm>
            <a:off x="7086600" y="4738334"/>
            <a:ext cx="2743200" cy="502920"/>
          </a:xfrm>
          <a:prstGeom prst="rect">
            <a:avLst/>
          </a:prstGeom>
          <a:noFill/>
        </p:spPr>
        <p:txBody>
          <a:bodyPr wrap="square">
            <a:spAutoFit/>
          </a:bodyPr>
          <a:lstStyle/>
          <a:p>
            <a:pPr algn="l"/>
            <a:r>
              <a:rPr sz="1050" b="0">
                <a:solidFill>
                  <a:srgbClr val="6C625B"/>
                </a:solidFill>
                <a:latin typeface="Aptos"/>
              </a:rPr>
              <a:t>Tuesday is highest; Sunday is lowest.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92443"/>
          </a:xfrm>
          <a:prstGeom prst="rect">
            <a:avLst/>
          </a:prstGeom>
          <a:noFill/>
        </p:spPr>
        <p:txBody>
          <a:bodyPr wrap="square">
            <a:spAutoFit/>
          </a:bodyPr>
          <a:lstStyle/>
          <a:p>
            <a:pPr algn="l"/>
            <a:r>
              <a:rPr sz="2600" b="1" dirty="0">
                <a:solidFill>
                  <a:srgbClr val="302018"/>
                </a:solidFill>
                <a:latin typeface="Aptos"/>
              </a:rPr>
              <a:t>5</a:t>
            </a:r>
            <a:r>
              <a:rPr lang="en-US" sz="2600" b="1" dirty="0">
                <a:solidFill>
                  <a:srgbClr val="302018"/>
                </a:solidFill>
                <a:latin typeface="Aptos"/>
              </a:rPr>
              <a:t>. </a:t>
            </a:r>
            <a:r>
              <a:rPr sz="2600" b="1" dirty="0">
                <a:solidFill>
                  <a:srgbClr val="302018"/>
                </a:solidFill>
                <a:latin typeface="Aptos"/>
              </a:rPr>
              <a:t>Revenue Contribution by Coffee</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200" b="0" dirty="0">
                <a:solidFill>
                  <a:srgbClr val="6C625B"/>
                </a:solidFill>
                <a:latin typeface="Aptos"/>
              </a:rPr>
              <a:t>The project also calculated each coffee's percentage contribution to total revenue; the source notebook visualizes this as a pie chart.</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64008" y="1325880"/>
            <a:ext cx="6537960" cy="4434840"/>
          </a:xfrm>
          <a:prstGeom prst="roundRect">
            <a:avLst/>
          </a:prstGeom>
          <a:solidFill>
            <a:srgbClr val="FFFFFF"/>
          </a:solidFill>
          <a:ln>
            <a:solidFill>
              <a:srgbClr val="E1D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roduct_revenue.png"/>
          <p:cNvPicPr>
            <a:picLocks noChangeAspect="1"/>
          </p:cNvPicPr>
          <p:nvPr/>
        </p:nvPicPr>
        <p:blipFill>
          <a:blip r:embed="rId2"/>
          <a:stretch>
            <a:fillRect/>
          </a:stretch>
        </p:blipFill>
        <p:spPr>
          <a:xfrm>
            <a:off x="619456" y="1828261"/>
            <a:ext cx="6217920" cy="3201478"/>
          </a:xfrm>
          <a:prstGeom prst="rect">
            <a:avLst/>
          </a:prstGeom>
        </p:spPr>
      </p:pic>
      <p:pic>
        <p:nvPicPr>
          <p:cNvPr id="8" name="Picture 7" descr="share_code.png"/>
          <p:cNvPicPr>
            <a:picLocks noChangeAspect="1"/>
          </p:cNvPicPr>
          <p:nvPr/>
        </p:nvPicPr>
        <p:blipFill>
          <a:blip r:embed="rId3"/>
          <a:stretch>
            <a:fillRect/>
          </a:stretch>
        </p:blipFill>
        <p:spPr>
          <a:xfrm>
            <a:off x="7196328" y="1380744"/>
            <a:ext cx="4861966" cy="1757788"/>
          </a:xfrm>
          <a:prstGeom prst="rect">
            <a:avLst/>
          </a:prstGeom>
        </p:spPr>
      </p:pic>
      <p:sp>
        <p:nvSpPr>
          <p:cNvPr id="9" name="TextBox 8"/>
          <p:cNvSpPr txBox="1"/>
          <p:nvPr/>
        </p:nvSpPr>
        <p:spPr>
          <a:xfrm>
            <a:off x="7167828" y="3321412"/>
            <a:ext cx="2743200" cy="274320"/>
          </a:xfrm>
          <a:prstGeom prst="rect">
            <a:avLst/>
          </a:prstGeom>
          <a:noFill/>
        </p:spPr>
        <p:txBody>
          <a:bodyPr wrap="square">
            <a:spAutoFit/>
          </a:bodyPr>
          <a:lstStyle/>
          <a:p>
            <a:pPr algn="l"/>
            <a:r>
              <a:rPr sz="1500" b="1" dirty="0">
                <a:solidFill>
                  <a:srgbClr val="684633"/>
                </a:solidFill>
                <a:latin typeface="Aptos"/>
              </a:rPr>
              <a:t>Visualization description</a:t>
            </a:r>
          </a:p>
        </p:txBody>
      </p:sp>
      <p:sp>
        <p:nvSpPr>
          <p:cNvPr id="10" name="TextBox 9"/>
          <p:cNvSpPr txBox="1"/>
          <p:nvPr/>
        </p:nvSpPr>
        <p:spPr>
          <a:xfrm>
            <a:off x="7167828" y="3659740"/>
            <a:ext cx="4160520" cy="594360"/>
          </a:xfrm>
          <a:prstGeom prst="rect">
            <a:avLst/>
          </a:prstGeom>
          <a:noFill/>
        </p:spPr>
        <p:txBody>
          <a:bodyPr wrap="square">
            <a:spAutoFit/>
          </a:bodyPr>
          <a:lstStyle/>
          <a:p>
            <a:pPr algn="l"/>
            <a:r>
              <a:rPr sz="1130" b="0">
                <a:solidFill>
                  <a:srgbClr val="302018"/>
                </a:solidFill>
                <a:latin typeface="Aptos"/>
              </a:rPr>
              <a:t>The project also calculated each coffee's percentage contribution to total revenue; the source notebook visualizes this as a pie chart.</a:t>
            </a:r>
          </a:p>
        </p:txBody>
      </p:sp>
      <p:sp>
        <p:nvSpPr>
          <p:cNvPr id="13" name="TextBox 12"/>
          <p:cNvSpPr txBox="1"/>
          <p:nvPr/>
        </p:nvSpPr>
        <p:spPr>
          <a:xfrm>
            <a:off x="7167828" y="4318108"/>
            <a:ext cx="2743200" cy="502920"/>
          </a:xfrm>
          <a:prstGeom prst="rect">
            <a:avLst/>
          </a:prstGeom>
          <a:noFill/>
        </p:spPr>
        <p:txBody>
          <a:bodyPr wrap="square">
            <a:spAutoFit/>
          </a:bodyPr>
          <a:lstStyle/>
          <a:p>
            <a:pPr algn="l"/>
            <a:r>
              <a:rPr sz="1050" b="0" dirty="0">
                <a:solidFill>
                  <a:srgbClr val="6C625B"/>
                </a:solidFill>
                <a:latin typeface="Aptos"/>
              </a:rPr>
              <a:t>Latte + Americano with Milk ≈ 46.0% combined.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74320"/>
            <a:ext cx="10789920" cy="457200"/>
          </a:xfrm>
          <a:prstGeom prst="rect">
            <a:avLst/>
          </a:prstGeom>
          <a:noFill/>
        </p:spPr>
        <p:txBody>
          <a:bodyPr wrap="square">
            <a:spAutoFit/>
          </a:bodyPr>
          <a:lstStyle/>
          <a:p>
            <a:pPr algn="l"/>
            <a:r>
              <a:rPr sz="2600" b="1">
                <a:solidFill>
                  <a:srgbClr val="302018"/>
                </a:solidFill>
                <a:latin typeface="Aptos"/>
              </a:rPr>
              <a:t>7. Final Findings &amp; Suggestions</a:t>
            </a:r>
          </a:p>
        </p:txBody>
      </p:sp>
      <p:sp>
        <p:nvSpPr>
          <p:cNvPr id="4" name="TextBox 3"/>
          <p:cNvSpPr txBox="1"/>
          <p:nvPr/>
        </p:nvSpPr>
        <p:spPr>
          <a:xfrm>
            <a:off x="612648" y="786384"/>
            <a:ext cx="10789920" cy="274320"/>
          </a:xfrm>
          <a:prstGeom prst="rect">
            <a:avLst/>
          </a:prstGeom>
          <a:noFill/>
        </p:spPr>
        <p:txBody>
          <a:bodyPr wrap="square">
            <a:spAutoFit/>
          </a:bodyPr>
          <a:lstStyle/>
          <a:p>
            <a:pPr algn="l"/>
            <a:r>
              <a:rPr sz="1150" b="0">
                <a:solidFill>
                  <a:srgbClr val="6C625B"/>
                </a:solidFill>
                <a:latin typeface="Aptos"/>
              </a:rPr>
              <a:t>Business interpretation based on the analyzed data</a:t>
            </a:r>
          </a:p>
        </p:txBody>
      </p:sp>
      <p:sp>
        <p:nvSpPr>
          <p:cNvPr id="5" name="Rectangle 4"/>
          <p:cNvSpPr/>
          <p:nvPr/>
        </p:nvSpPr>
        <p:spPr>
          <a:xfrm>
            <a:off x="612648" y="1097280"/>
            <a:ext cx="731520" cy="45720"/>
          </a:xfrm>
          <a:prstGeom prst="rect">
            <a:avLst/>
          </a:prstGeom>
          <a:solidFill>
            <a:srgbClr val="C99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85800" y="1325880"/>
            <a:ext cx="502920" cy="329184"/>
          </a:xfrm>
          <a:prstGeom prst="roundRect">
            <a:avLst/>
          </a:prstGeom>
          <a:solidFill>
            <a:srgbClr val="EE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57884"/>
            <a:ext cx="502920" cy="201168"/>
          </a:xfrm>
          <a:prstGeom prst="rect">
            <a:avLst/>
          </a:prstGeom>
          <a:noFill/>
        </p:spPr>
        <p:txBody>
          <a:bodyPr wrap="square">
            <a:spAutoFit/>
          </a:bodyPr>
          <a:lstStyle/>
          <a:p>
            <a:pPr algn="ctr"/>
            <a:r>
              <a:rPr sz="900" b="1" dirty="0">
                <a:solidFill>
                  <a:srgbClr val="684633"/>
                </a:solidFill>
                <a:latin typeface="Aptos"/>
              </a:rPr>
              <a:t>01</a:t>
            </a:r>
          </a:p>
        </p:txBody>
      </p:sp>
      <p:sp>
        <p:nvSpPr>
          <p:cNvPr id="8" name="TextBox 7"/>
          <p:cNvSpPr txBox="1"/>
          <p:nvPr/>
        </p:nvSpPr>
        <p:spPr>
          <a:xfrm>
            <a:off x="1417320" y="1325880"/>
            <a:ext cx="1920240" cy="256032"/>
          </a:xfrm>
          <a:prstGeom prst="rect">
            <a:avLst/>
          </a:prstGeom>
          <a:noFill/>
        </p:spPr>
        <p:txBody>
          <a:bodyPr wrap="square">
            <a:spAutoFit/>
          </a:bodyPr>
          <a:lstStyle/>
          <a:p>
            <a:pPr algn="l"/>
            <a:r>
              <a:rPr sz="1350" b="1">
                <a:solidFill>
                  <a:srgbClr val="684633"/>
                </a:solidFill>
                <a:latin typeface="Aptos"/>
              </a:rPr>
              <a:t>Product mix</a:t>
            </a:r>
          </a:p>
        </p:txBody>
      </p:sp>
      <p:sp>
        <p:nvSpPr>
          <p:cNvPr id="9" name="TextBox 8"/>
          <p:cNvSpPr txBox="1"/>
          <p:nvPr/>
        </p:nvSpPr>
        <p:spPr>
          <a:xfrm>
            <a:off x="3337560" y="1325880"/>
            <a:ext cx="7955279" cy="307777"/>
          </a:xfrm>
          <a:prstGeom prst="rect">
            <a:avLst/>
          </a:prstGeom>
          <a:noFill/>
        </p:spPr>
        <p:txBody>
          <a:bodyPr wrap="square">
            <a:spAutoFit/>
          </a:bodyPr>
          <a:lstStyle/>
          <a:p>
            <a:pPr algn="l"/>
            <a:r>
              <a:rPr sz="1400" b="0" dirty="0">
                <a:solidFill>
                  <a:srgbClr val="302018"/>
                </a:solidFill>
                <a:latin typeface="Aptos"/>
              </a:rPr>
              <a:t>Latte and Americano with Milk together contribute about 46.0% of revenue.</a:t>
            </a:r>
          </a:p>
        </p:txBody>
      </p:sp>
      <p:sp>
        <p:nvSpPr>
          <p:cNvPr id="10" name="Rounded Rectangle 9"/>
          <p:cNvSpPr/>
          <p:nvPr/>
        </p:nvSpPr>
        <p:spPr>
          <a:xfrm>
            <a:off x="685800" y="2039112"/>
            <a:ext cx="502920" cy="329184"/>
          </a:xfrm>
          <a:prstGeom prst="roundRect">
            <a:avLst/>
          </a:prstGeom>
          <a:solidFill>
            <a:srgbClr val="EE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071116"/>
            <a:ext cx="502920" cy="201168"/>
          </a:xfrm>
          <a:prstGeom prst="rect">
            <a:avLst/>
          </a:prstGeom>
          <a:noFill/>
        </p:spPr>
        <p:txBody>
          <a:bodyPr wrap="square">
            <a:spAutoFit/>
          </a:bodyPr>
          <a:lstStyle/>
          <a:p>
            <a:pPr algn="ctr"/>
            <a:r>
              <a:rPr sz="900" b="1">
                <a:solidFill>
                  <a:srgbClr val="684633"/>
                </a:solidFill>
                <a:latin typeface="Aptos"/>
              </a:rPr>
              <a:t>02</a:t>
            </a:r>
          </a:p>
        </p:txBody>
      </p:sp>
      <p:sp>
        <p:nvSpPr>
          <p:cNvPr id="12" name="TextBox 11"/>
          <p:cNvSpPr txBox="1"/>
          <p:nvPr/>
        </p:nvSpPr>
        <p:spPr>
          <a:xfrm>
            <a:off x="1417320" y="2039112"/>
            <a:ext cx="1920240" cy="256032"/>
          </a:xfrm>
          <a:prstGeom prst="rect">
            <a:avLst/>
          </a:prstGeom>
          <a:noFill/>
        </p:spPr>
        <p:txBody>
          <a:bodyPr wrap="square">
            <a:spAutoFit/>
          </a:bodyPr>
          <a:lstStyle/>
          <a:p>
            <a:pPr algn="l"/>
            <a:r>
              <a:rPr sz="1350" b="1">
                <a:solidFill>
                  <a:srgbClr val="684633"/>
                </a:solidFill>
                <a:latin typeface="Aptos"/>
              </a:rPr>
              <a:t>Peak hour</a:t>
            </a:r>
          </a:p>
        </p:txBody>
      </p:sp>
      <p:sp>
        <p:nvSpPr>
          <p:cNvPr id="13" name="TextBox 12"/>
          <p:cNvSpPr txBox="1"/>
          <p:nvPr/>
        </p:nvSpPr>
        <p:spPr>
          <a:xfrm>
            <a:off x="3337560" y="2039112"/>
            <a:ext cx="7955279" cy="307777"/>
          </a:xfrm>
          <a:prstGeom prst="rect">
            <a:avLst/>
          </a:prstGeom>
          <a:noFill/>
        </p:spPr>
        <p:txBody>
          <a:bodyPr wrap="square">
            <a:spAutoFit/>
          </a:bodyPr>
          <a:lstStyle/>
          <a:p>
            <a:pPr algn="l"/>
            <a:r>
              <a:rPr sz="1400" b="0" dirty="0">
                <a:solidFill>
                  <a:srgbClr val="302018"/>
                </a:solidFill>
                <a:latin typeface="Aptos"/>
              </a:rPr>
              <a:t>The hourly chart shows the highest transaction activity around 10 AM.</a:t>
            </a:r>
          </a:p>
        </p:txBody>
      </p:sp>
      <p:sp>
        <p:nvSpPr>
          <p:cNvPr id="14" name="Rounded Rectangle 13"/>
          <p:cNvSpPr/>
          <p:nvPr/>
        </p:nvSpPr>
        <p:spPr>
          <a:xfrm>
            <a:off x="685800" y="2752344"/>
            <a:ext cx="502920" cy="329184"/>
          </a:xfrm>
          <a:prstGeom prst="roundRect">
            <a:avLst/>
          </a:prstGeom>
          <a:solidFill>
            <a:srgbClr val="EE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784348"/>
            <a:ext cx="502920" cy="201168"/>
          </a:xfrm>
          <a:prstGeom prst="rect">
            <a:avLst/>
          </a:prstGeom>
          <a:noFill/>
        </p:spPr>
        <p:txBody>
          <a:bodyPr wrap="square">
            <a:spAutoFit/>
          </a:bodyPr>
          <a:lstStyle/>
          <a:p>
            <a:pPr algn="ctr"/>
            <a:r>
              <a:rPr sz="900" b="1">
                <a:solidFill>
                  <a:srgbClr val="684633"/>
                </a:solidFill>
                <a:latin typeface="Aptos"/>
              </a:rPr>
              <a:t>03</a:t>
            </a:r>
          </a:p>
        </p:txBody>
      </p:sp>
      <p:sp>
        <p:nvSpPr>
          <p:cNvPr id="16" name="TextBox 15"/>
          <p:cNvSpPr txBox="1"/>
          <p:nvPr/>
        </p:nvSpPr>
        <p:spPr>
          <a:xfrm>
            <a:off x="1417320" y="2752344"/>
            <a:ext cx="1920240" cy="256032"/>
          </a:xfrm>
          <a:prstGeom prst="rect">
            <a:avLst/>
          </a:prstGeom>
          <a:noFill/>
        </p:spPr>
        <p:txBody>
          <a:bodyPr wrap="square">
            <a:spAutoFit/>
          </a:bodyPr>
          <a:lstStyle/>
          <a:p>
            <a:pPr algn="l"/>
            <a:r>
              <a:rPr sz="1350" b="1">
                <a:solidFill>
                  <a:srgbClr val="684633"/>
                </a:solidFill>
                <a:latin typeface="Aptos"/>
              </a:rPr>
              <a:t>Weekday pattern</a:t>
            </a:r>
          </a:p>
        </p:txBody>
      </p:sp>
      <p:sp>
        <p:nvSpPr>
          <p:cNvPr id="17" name="TextBox 16"/>
          <p:cNvSpPr txBox="1"/>
          <p:nvPr/>
        </p:nvSpPr>
        <p:spPr>
          <a:xfrm>
            <a:off x="3337560" y="2752344"/>
            <a:ext cx="7955279" cy="307777"/>
          </a:xfrm>
          <a:prstGeom prst="rect">
            <a:avLst/>
          </a:prstGeom>
          <a:noFill/>
        </p:spPr>
        <p:txBody>
          <a:bodyPr wrap="square">
            <a:spAutoFit/>
          </a:bodyPr>
          <a:lstStyle/>
          <a:p>
            <a:pPr algn="l"/>
            <a:r>
              <a:rPr sz="1400" b="0">
                <a:solidFill>
                  <a:srgbClr val="302018"/>
                </a:solidFill>
                <a:latin typeface="Aptos"/>
              </a:rPr>
              <a:t>Tuesday revenue is ₹18,168.38; Sunday revenue is ₹13,336.06.</a:t>
            </a:r>
          </a:p>
        </p:txBody>
      </p:sp>
      <p:sp>
        <p:nvSpPr>
          <p:cNvPr id="18" name="Rounded Rectangle 17"/>
          <p:cNvSpPr/>
          <p:nvPr/>
        </p:nvSpPr>
        <p:spPr>
          <a:xfrm>
            <a:off x="685800" y="3465576"/>
            <a:ext cx="502920" cy="329184"/>
          </a:xfrm>
          <a:prstGeom prst="roundRect">
            <a:avLst/>
          </a:prstGeom>
          <a:solidFill>
            <a:srgbClr val="EE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497580"/>
            <a:ext cx="502920" cy="201168"/>
          </a:xfrm>
          <a:prstGeom prst="rect">
            <a:avLst/>
          </a:prstGeom>
          <a:noFill/>
        </p:spPr>
        <p:txBody>
          <a:bodyPr wrap="square">
            <a:spAutoFit/>
          </a:bodyPr>
          <a:lstStyle/>
          <a:p>
            <a:pPr algn="ctr"/>
            <a:r>
              <a:rPr sz="900" b="1">
                <a:solidFill>
                  <a:srgbClr val="684633"/>
                </a:solidFill>
                <a:latin typeface="Aptos"/>
              </a:rPr>
              <a:t>04</a:t>
            </a:r>
          </a:p>
        </p:txBody>
      </p:sp>
      <p:sp>
        <p:nvSpPr>
          <p:cNvPr id="20" name="TextBox 19"/>
          <p:cNvSpPr txBox="1"/>
          <p:nvPr/>
        </p:nvSpPr>
        <p:spPr>
          <a:xfrm>
            <a:off x="1417320" y="3465576"/>
            <a:ext cx="1920240" cy="256032"/>
          </a:xfrm>
          <a:prstGeom prst="rect">
            <a:avLst/>
          </a:prstGeom>
          <a:noFill/>
        </p:spPr>
        <p:txBody>
          <a:bodyPr wrap="square">
            <a:spAutoFit/>
          </a:bodyPr>
          <a:lstStyle/>
          <a:p>
            <a:pPr algn="l"/>
            <a:r>
              <a:rPr sz="1350" b="1">
                <a:solidFill>
                  <a:srgbClr val="684633"/>
                </a:solidFill>
                <a:latin typeface="Aptos"/>
              </a:rPr>
              <a:t>Monthly movement</a:t>
            </a:r>
          </a:p>
        </p:txBody>
      </p:sp>
      <p:sp>
        <p:nvSpPr>
          <p:cNvPr id="21" name="TextBox 20"/>
          <p:cNvSpPr txBox="1"/>
          <p:nvPr/>
        </p:nvSpPr>
        <p:spPr>
          <a:xfrm>
            <a:off x="3337560" y="3465576"/>
            <a:ext cx="7955279" cy="307777"/>
          </a:xfrm>
          <a:prstGeom prst="rect">
            <a:avLst/>
          </a:prstGeom>
          <a:noFill/>
        </p:spPr>
        <p:txBody>
          <a:bodyPr wrap="square">
            <a:spAutoFit/>
          </a:bodyPr>
          <a:lstStyle/>
          <a:p>
            <a:pPr algn="l"/>
            <a:r>
              <a:rPr sz="1400" b="0">
                <a:solidFill>
                  <a:srgbClr val="302018"/>
                </a:solidFill>
                <a:latin typeface="Aptos"/>
              </a:rPr>
              <a:t>The displayed monthly trend peaks in March and reaches its low point in April.</a:t>
            </a:r>
          </a:p>
        </p:txBody>
      </p:sp>
      <p:sp>
        <p:nvSpPr>
          <p:cNvPr id="22" name="Rounded Rectangle 21"/>
          <p:cNvSpPr/>
          <p:nvPr/>
        </p:nvSpPr>
        <p:spPr>
          <a:xfrm>
            <a:off x="685800" y="4178808"/>
            <a:ext cx="502920" cy="329184"/>
          </a:xfrm>
          <a:prstGeom prst="roundRect">
            <a:avLst/>
          </a:prstGeom>
          <a:solidFill>
            <a:srgbClr val="EEE1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4210812"/>
            <a:ext cx="502920" cy="201168"/>
          </a:xfrm>
          <a:prstGeom prst="rect">
            <a:avLst/>
          </a:prstGeom>
          <a:noFill/>
        </p:spPr>
        <p:txBody>
          <a:bodyPr wrap="square">
            <a:spAutoFit/>
          </a:bodyPr>
          <a:lstStyle/>
          <a:p>
            <a:pPr algn="ctr"/>
            <a:r>
              <a:rPr sz="900" b="1">
                <a:solidFill>
                  <a:srgbClr val="684633"/>
                </a:solidFill>
                <a:latin typeface="Aptos"/>
              </a:rPr>
              <a:t>05</a:t>
            </a:r>
          </a:p>
        </p:txBody>
      </p:sp>
      <p:sp>
        <p:nvSpPr>
          <p:cNvPr id="24" name="TextBox 23"/>
          <p:cNvSpPr txBox="1"/>
          <p:nvPr/>
        </p:nvSpPr>
        <p:spPr>
          <a:xfrm>
            <a:off x="1417320" y="4178808"/>
            <a:ext cx="1920240" cy="256032"/>
          </a:xfrm>
          <a:prstGeom prst="rect">
            <a:avLst/>
          </a:prstGeom>
          <a:noFill/>
        </p:spPr>
        <p:txBody>
          <a:bodyPr wrap="square">
            <a:spAutoFit/>
          </a:bodyPr>
          <a:lstStyle/>
          <a:p>
            <a:pPr algn="l"/>
            <a:r>
              <a:rPr sz="1350" b="1">
                <a:solidFill>
                  <a:srgbClr val="684633"/>
                </a:solidFill>
                <a:latin typeface="Aptos"/>
              </a:rPr>
              <a:t>Data quality</a:t>
            </a:r>
          </a:p>
        </p:txBody>
      </p:sp>
      <p:sp>
        <p:nvSpPr>
          <p:cNvPr id="25" name="TextBox 24"/>
          <p:cNvSpPr txBox="1"/>
          <p:nvPr/>
        </p:nvSpPr>
        <p:spPr>
          <a:xfrm>
            <a:off x="3337560" y="4178808"/>
            <a:ext cx="7955279" cy="307777"/>
          </a:xfrm>
          <a:prstGeom prst="rect">
            <a:avLst/>
          </a:prstGeom>
          <a:noFill/>
        </p:spPr>
        <p:txBody>
          <a:bodyPr wrap="square">
            <a:spAutoFit/>
          </a:bodyPr>
          <a:lstStyle/>
          <a:p>
            <a:pPr algn="l"/>
            <a:r>
              <a:rPr sz="1400" b="0">
                <a:solidFill>
                  <a:srgbClr val="302018"/>
                </a:solidFill>
                <a:latin typeface="Aptos"/>
              </a:rPr>
              <a:t>No missing values and no duplicate records were found.</a:t>
            </a:r>
          </a:p>
        </p:txBody>
      </p:sp>
      <p:sp>
        <p:nvSpPr>
          <p:cNvPr id="26" name="TextBox 25"/>
          <p:cNvSpPr txBox="1"/>
          <p:nvPr/>
        </p:nvSpPr>
        <p:spPr>
          <a:xfrm>
            <a:off x="594360" y="4836349"/>
            <a:ext cx="1828800" cy="353943"/>
          </a:xfrm>
          <a:prstGeom prst="rect">
            <a:avLst/>
          </a:prstGeom>
          <a:noFill/>
        </p:spPr>
        <p:txBody>
          <a:bodyPr wrap="square">
            <a:spAutoFit/>
          </a:bodyPr>
          <a:lstStyle/>
          <a:p>
            <a:pPr algn="l"/>
            <a:r>
              <a:rPr lang="en-US" sz="1700" b="1" dirty="0">
                <a:solidFill>
                  <a:srgbClr val="684633"/>
                </a:solidFill>
                <a:latin typeface="Aptos"/>
              </a:rPr>
              <a:t>Key </a:t>
            </a:r>
            <a:r>
              <a:rPr sz="1700" b="1" dirty="0">
                <a:solidFill>
                  <a:srgbClr val="684633"/>
                </a:solidFill>
                <a:latin typeface="Aptos"/>
              </a:rPr>
              <a:t>Suggestions</a:t>
            </a:r>
          </a:p>
        </p:txBody>
      </p:sp>
      <p:sp>
        <p:nvSpPr>
          <p:cNvPr id="27" name="TextBox 26"/>
          <p:cNvSpPr txBox="1"/>
          <p:nvPr/>
        </p:nvSpPr>
        <p:spPr>
          <a:xfrm>
            <a:off x="594360" y="5156389"/>
            <a:ext cx="10332720" cy="1061829"/>
          </a:xfrm>
          <a:prstGeom prst="rect">
            <a:avLst/>
          </a:prstGeom>
          <a:noFill/>
        </p:spPr>
        <p:txBody>
          <a:bodyPr wrap="square">
            <a:spAutoFit/>
          </a:bodyPr>
          <a:lstStyle/>
          <a:p>
            <a:pPr>
              <a:spcAft>
                <a:spcPts val="600"/>
              </a:spcAft>
              <a:defRPr sz="1130">
                <a:solidFill>
                  <a:srgbClr val="302018"/>
                </a:solidFill>
                <a:latin typeface="Aptos"/>
              </a:defRPr>
            </a:pPr>
            <a:r>
              <a:rPr sz="1200" dirty="0"/>
              <a:t>• Keep high-contribution products prominent and test cross-selling.</a:t>
            </a:r>
          </a:p>
          <a:p>
            <a:pPr>
              <a:spcAft>
                <a:spcPts val="600"/>
              </a:spcAft>
              <a:defRPr sz="1130">
                <a:solidFill>
                  <a:srgbClr val="302018"/>
                </a:solidFill>
                <a:latin typeface="Aptos"/>
              </a:defRPr>
            </a:pPr>
            <a:r>
              <a:rPr sz="1200" dirty="0"/>
              <a:t>• Plan staffing and inventory readiness around the late-morning peak.</a:t>
            </a:r>
          </a:p>
          <a:p>
            <a:pPr>
              <a:spcAft>
                <a:spcPts val="600"/>
              </a:spcAft>
              <a:defRPr sz="1130">
                <a:solidFill>
                  <a:srgbClr val="302018"/>
                </a:solidFill>
                <a:latin typeface="Aptos"/>
              </a:defRPr>
            </a:pPr>
            <a:r>
              <a:rPr sz="1200" dirty="0"/>
              <a:t>• Use weekday patterns as an input for staffing and promotion planning.</a:t>
            </a:r>
          </a:p>
          <a:p>
            <a:pPr>
              <a:spcAft>
                <a:spcPts val="600"/>
              </a:spcAft>
              <a:defRPr sz="1130">
                <a:solidFill>
                  <a:srgbClr val="302018"/>
                </a:solidFill>
                <a:latin typeface="Aptos"/>
              </a:defRPr>
            </a:pPr>
            <a:r>
              <a:rPr sz="1200" dirty="0"/>
              <a:t>• Investigate the March</a:t>
            </a:r>
            <a:r>
              <a:rPr lang="en-US" sz="1200" dirty="0"/>
              <a:t> to </a:t>
            </a:r>
            <a:r>
              <a:rPr sz="1200" dirty="0"/>
              <a:t>April change further before making seasonal decisions.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302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855970"/>
            <a:ext cx="10851204" cy="523220"/>
          </a:xfrm>
          <a:prstGeom prst="rect">
            <a:avLst/>
          </a:prstGeom>
          <a:noFill/>
        </p:spPr>
        <p:txBody>
          <a:bodyPr wrap="square">
            <a:spAutoFit/>
          </a:bodyPr>
          <a:lstStyle/>
          <a:p>
            <a:pPr algn="ctr"/>
            <a:r>
              <a:rPr lang="en-US" sz="2800" b="1" dirty="0">
                <a:solidFill>
                  <a:srgbClr val="FFFFFF"/>
                </a:solidFill>
                <a:latin typeface="Aptos"/>
              </a:rPr>
              <a:t>Thank you</a:t>
            </a:r>
            <a:endParaRPr sz="2800" b="1" dirty="0">
              <a:solidFill>
                <a:srgbClr val="FFFFFF"/>
              </a:solidFill>
              <a:latin typeface="Aptos"/>
            </a:endParaRPr>
          </a:p>
        </p:txBody>
      </p:sp>
      <p:sp>
        <p:nvSpPr>
          <p:cNvPr id="25" name="TextBox 24"/>
          <p:cNvSpPr txBox="1"/>
          <p:nvPr/>
        </p:nvSpPr>
        <p:spPr>
          <a:xfrm>
            <a:off x="731520" y="4407408"/>
            <a:ext cx="9875520" cy="1234440"/>
          </a:xfrm>
          <a:prstGeom prst="rect">
            <a:avLst/>
          </a:prstGeom>
          <a:noFill/>
        </p:spPr>
        <p:txBody>
          <a:bodyPr wrap="square">
            <a:spAutoFit/>
          </a:bodyPr>
          <a:lstStyle/>
          <a:p>
            <a:pPr>
              <a:spcAft>
                <a:spcPts val="600"/>
              </a:spcAft>
              <a:defRPr sz="1400">
                <a:solidFill>
                  <a:srgbClr val="302018"/>
                </a:solidFill>
                <a:latin typeface="Aptos"/>
              </a:defRPr>
            </a:pPr>
            <a:r>
              <a:t>• Demonstrates practical data-analysis skills using transaction data.</a:t>
            </a:r>
          </a:p>
          <a:p>
            <a:pPr>
              <a:spcAft>
                <a:spcPts val="600"/>
              </a:spcAft>
              <a:defRPr sz="1400">
                <a:solidFill>
                  <a:srgbClr val="302018"/>
                </a:solidFill>
                <a:latin typeface="Aptos"/>
              </a:defRPr>
            </a:pPr>
            <a:r>
              <a:t>• Connects Python outputs to business questions.</a:t>
            </a:r>
          </a:p>
          <a:p>
            <a:pPr>
              <a:spcAft>
                <a:spcPts val="600"/>
              </a:spcAft>
              <a:defRPr sz="1400">
                <a:solidFill>
                  <a:srgbClr val="302018"/>
                </a:solidFill>
                <a:latin typeface="Aptos"/>
              </a:defRPr>
            </a:pPr>
            <a:r>
              <a:t>• Communicates results through KPIs, charts and recommendations.</a:t>
            </a:r>
          </a:p>
        </p:txBody>
      </p:sp>
      <p:sp>
        <p:nvSpPr>
          <p:cNvPr id="27" name="TextBox 26"/>
          <p:cNvSpPr txBox="1"/>
          <p:nvPr/>
        </p:nvSpPr>
        <p:spPr>
          <a:xfrm>
            <a:off x="5087372" y="6469156"/>
            <a:ext cx="4572000" cy="230832"/>
          </a:xfrm>
          <a:prstGeom prst="rect">
            <a:avLst/>
          </a:prstGeom>
          <a:noFill/>
        </p:spPr>
        <p:txBody>
          <a:bodyPr wrap="square">
            <a:spAutoFit/>
          </a:bodyPr>
          <a:lstStyle/>
          <a:p>
            <a:pPr algn="l"/>
            <a:r>
              <a:rPr sz="900" b="1" dirty="0">
                <a:solidFill>
                  <a:srgbClr val="6C625B"/>
                </a:solidFill>
                <a:latin typeface="Aptos"/>
              </a:rPr>
              <a:t>COFFEE SALES • PYTHON DATA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94</TotalTime>
  <Words>772</Words>
  <Application>Microsoft Office PowerPoint</Application>
  <PresentationFormat>Widescreen</PresentationFormat>
  <Paragraphs>113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t26727</cp:lastModifiedBy>
  <cp:revision>2</cp:revision>
  <dcterms:created xsi:type="dcterms:W3CDTF">2013-01-27T09:14:16Z</dcterms:created>
  <dcterms:modified xsi:type="dcterms:W3CDTF">2026-09-23T13:02:24Z</dcterms:modified>
  <cp:category/>
</cp:coreProperties>
</file>